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7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A5C"/>
          </a:solidFill>
          <a:ln w="12700">
            <a:solidFill>
              <a:srgbClr val="1A3A5C"/>
            </a:solidFill>
            <a:prstDash val="solid"/>
          </a:ln>
        </p:spPr>
      </p:sp>
      <p:sp>
        <p:nvSpPr>
          <p:cNvPr id="3" name="Text 1"/>
          <p:cNvSpPr/>
          <p:nvPr/>
        </p:nvSpPr>
        <p:spPr>
          <a:xfrm>
            <a:off x="274320" y="0"/>
            <a:ext cx="8595360" cy="475488"/>
          </a:xfrm>
          <a:prstGeom prst="rect">
            <a:avLst/>
          </a:prstGeom>
          <a:noFill/>
          <a:ln/>
        </p:spPr>
        <p:txBody>
          <a:bodyPr wrap="square" lIns="0" tIns="0" rIns="0" bIns="0" rtlCol="0" anchor="b"/>
          <a:lstStyle/>
          <a:p>
            <a:pPr algn="ctr" indent="0" marL="0">
              <a:buNone/>
            </a:pPr>
            <a:r>
              <a:rPr lang="en-US" sz="1600" b="1" dirty="0">
                <a:solidFill>
                  <a:srgbClr val="FFFFFF"/>
                </a:solidFill>
              </a:rPr>
              <a:t>Department of Computer Technology</a:t>
            </a:r>
            <a:endParaRPr lang="en-US" sz="1600" dirty="0"/>
          </a:p>
        </p:txBody>
      </p:sp>
      <p:sp>
        <p:nvSpPr>
          <p:cNvPr id="4" name="Text 2"/>
          <p:cNvSpPr/>
          <p:nvPr/>
        </p:nvSpPr>
        <p:spPr>
          <a:xfrm>
            <a:off x="274320" y="475488"/>
            <a:ext cx="8595360" cy="411480"/>
          </a:xfrm>
          <a:prstGeom prst="rect">
            <a:avLst/>
          </a:prstGeom>
          <a:noFill/>
          <a:ln/>
        </p:spPr>
        <p:txBody>
          <a:bodyPr wrap="square" lIns="0" tIns="0" rIns="0" bIns="0" rtlCol="0" anchor="t"/>
          <a:lstStyle/>
          <a:p>
            <a:pPr algn="ctr" indent="0" marL="0">
              <a:buNone/>
            </a:pPr>
            <a:r>
              <a:rPr lang="en-US" sz="1200" dirty="0">
                <a:solidFill>
                  <a:srgbClr val="D6E4F0"/>
                </a:solidFill>
              </a:rPr>
              <a:t>Yeshwantrao Chavan College of Engineering, Nagpur</a:t>
            </a:r>
            <a:endParaRPr lang="en-US" sz="1200" dirty="0"/>
          </a:p>
        </p:txBody>
      </p:sp>
      <p:sp>
        <p:nvSpPr>
          <p:cNvPr id="5" name="Shape 3"/>
          <p:cNvSpPr/>
          <p:nvPr/>
        </p:nvSpPr>
        <p:spPr>
          <a:xfrm>
            <a:off x="0" y="960120"/>
            <a:ext cx="9144000" cy="50292"/>
          </a:xfrm>
          <a:prstGeom prst="rect">
            <a:avLst/>
          </a:prstGeom>
          <a:solidFill>
            <a:srgbClr val="C8A951"/>
          </a:solidFill>
          <a:ln w="12700">
            <a:solidFill>
              <a:srgbClr val="C8A951"/>
            </a:solidFill>
            <a:prstDash val="solid"/>
          </a:ln>
        </p:spPr>
      </p:sp>
      <p:sp>
        <p:nvSpPr>
          <p:cNvPr id="6" name="Text 4"/>
          <p:cNvSpPr/>
          <p:nvPr/>
        </p:nvSpPr>
        <p:spPr>
          <a:xfrm>
            <a:off x="457200" y="1097280"/>
            <a:ext cx="8229600" cy="960120"/>
          </a:xfrm>
          <a:prstGeom prst="rect">
            <a:avLst/>
          </a:prstGeom>
          <a:noFill/>
          <a:ln/>
        </p:spPr>
        <p:txBody>
          <a:bodyPr wrap="square" lIns="0" tIns="0" rIns="0" bIns="0" rtlCol="0" anchor="ctr"/>
          <a:lstStyle/>
          <a:p>
            <a:pPr algn="ctr" indent="0" marL="0">
              <a:buNone/>
            </a:pPr>
            <a:r>
              <a:rPr lang="en-US" sz="2200" b="1" dirty="0">
                <a:solidFill>
                  <a:srgbClr val="1A3A5C"/>
                </a:solidFill>
              </a:rPr>
              <a:t>Automation of Coursera Web Application</a:t>
            </a:r>
            <a:endParaRPr lang="en-US" sz="2200" dirty="0"/>
          </a:p>
          <a:p>
            <a:pPr algn="ctr" indent="0" marL="0">
              <a:buNone/>
            </a:pPr>
            <a:r>
              <a:rPr lang="en-US" sz="2200" b="1" dirty="0">
                <a:solidFill>
                  <a:srgbClr val="1A3A5C"/>
                </a:solidFill>
              </a:rPr>
              <a:t>To Identify Courses</a:t>
            </a:r>
            <a:endParaRPr lang="en-US" sz="2200" dirty="0"/>
          </a:p>
        </p:txBody>
      </p:sp>
      <p:sp>
        <p:nvSpPr>
          <p:cNvPr id="7" name="Text 5"/>
          <p:cNvSpPr/>
          <p:nvPr/>
        </p:nvSpPr>
        <p:spPr>
          <a:xfrm>
            <a:off x="457200" y="2029968"/>
            <a:ext cx="8229600" cy="274320"/>
          </a:xfrm>
          <a:prstGeom prst="rect">
            <a:avLst/>
          </a:prstGeom>
          <a:noFill/>
          <a:ln/>
        </p:spPr>
        <p:txBody>
          <a:bodyPr wrap="square" lIns="0" tIns="0" rIns="0" bIns="0" rtlCol="0" anchor="ctr"/>
          <a:lstStyle/>
          <a:p>
            <a:pPr algn="ctr" indent="0" marL="0">
              <a:buNone/>
            </a:pPr>
            <a:r>
              <a:rPr lang="en-US" sz="1000" i="1" dirty="0">
                <a:solidFill>
                  <a:srgbClr val="7F7F7F"/>
                </a:solidFill>
              </a:rPr>
              <a:t>(Title of Industry Project)</a:t>
            </a:r>
            <a:endParaRPr lang="en-US" sz="1000" dirty="0"/>
          </a:p>
        </p:txBody>
      </p:sp>
      <p:sp>
        <p:nvSpPr>
          <p:cNvPr id="8" name="Shape 6"/>
          <p:cNvSpPr/>
          <p:nvPr/>
        </p:nvSpPr>
        <p:spPr>
          <a:xfrm>
            <a:off x="1371600" y="2359152"/>
            <a:ext cx="6400800" cy="36576"/>
          </a:xfrm>
          <a:prstGeom prst="rect">
            <a:avLst/>
          </a:prstGeom>
          <a:solidFill>
            <a:srgbClr val="5B9BD5"/>
          </a:solidFill>
          <a:ln w="12700">
            <a:solidFill>
              <a:srgbClr val="5B9BD5"/>
            </a:solidFill>
            <a:prstDash val="solid"/>
          </a:ln>
        </p:spPr>
      </p:sp>
      <p:sp>
        <p:nvSpPr>
          <p:cNvPr id="9" name="Text 7"/>
          <p:cNvSpPr/>
          <p:nvPr/>
        </p:nvSpPr>
        <p:spPr>
          <a:xfrm>
            <a:off x="457200" y="2468880"/>
            <a:ext cx="8229600" cy="274320"/>
          </a:xfrm>
          <a:prstGeom prst="rect">
            <a:avLst/>
          </a:prstGeom>
          <a:noFill/>
          <a:ln/>
        </p:spPr>
        <p:txBody>
          <a:bodyPr wrap="square" lIns="0" tIns="0" rIns="0" bIns="0" rtlCol="0" anchor="ctr"/>
          <a:lstStyle/>
          <a:p>
            <a:pPr algn="ctr" indent="0" marL="0">
              <a:buNone/>
            </a:pPr>
            <a:r>
              <a:rPr lang="en-US" sz="1200" b="1" dirty="0">
                <a:solidFill>
                  <a:srgbClr val="2E6DA4"/>
                </a:solidFill>
              </a:rPr>
              <a:t>By</a:t>
            </a:r>
            <a:endParaRPr lang="en-US" sz="1200" dirty="0"/>
          </a:p>
        </p:txBody>
      </p:sp>
      <p:sp>
        <p:nvSpPr>
          <p:cNvPr id="10" name="Text 8"/>
          <p:cNvSpPr/>
          <p:nvPr/>
        </p:nvSpPr>
        <p:spPr>
          <a:xfrm>
            <a:off x="457200" y="2743200"/>
            <a:ext cx="8229600" cy="274320"/>
          </a:xfrm>
          <a:prstGeom prst="rect">
            <a:avLst/>
          </a:prstGeom>
          <a:noFill/>
          <a:ln/>
        </p:spPr>
        <p:txBody>
          <a:bodyPr wrap="square" lIns="0" tIns="0" rIns="0" bIns="0" rtlCol="0" anchor="ctr"/>
          <a:lstStyle/>
          <a:p>
            <a:pPr algn="ctr" indent="0" marL="0">
              <a:buNone/>
            </a:pPr>
            <a:r>
              <a:rPr lang="en-US" sz="1200" dirty="0">
                <a:solidFill>
                  <a:srgbClr val="4A4A4A"/>
                </a:solidFill>
              </a:rPr>
              <a:t>Payal SamarKumar Sahu,  15  (Name, Roll No)</a:t>
            </a:r>
            <a:endParaRPr lang="en-US" sz="1200" dirty="0"/>
          </a:p>
        </p:txBody>
      </p:sp>
      <p:sp>
        <p:nvSpPr>
          <p:cNvPr id="11" name="Text 9"/>
          <p:cNvSpPr/>
          <p:nvPr/>
        </p:nvSpPr>
        <p:spPr>
          <a:xfrm>
            <a:off x="457200" y="3090672"/>
            <a:ext cx="8229600" cy="256032"/>
          </a:xfrm>
          <a:prstGeom prst="rect">
            <a:avLst/>
          </a:prstGeom>
          <a:noFill/>
          <a:ln/>
        </p:spPr>
        <p:txBody>
          <a:bodyPr wrap="square" lIns="0" tIns="0" rIns="0" bIns="0" rtlCol="0" anchor="ctr"/>
          <a:lstStyle/>
          <a:p>
            <a:pPr algn="ctr" indent="0" marL="0">
              <a:buNone/>
            </a:pPr>
            <a:r>
              <a:rPr lang="en-US" sz="1100" b="1" dirty="0">
                <a:solidFill>
                  <a:srgbClr val="2E6DA4"/>
                </a:solidFill>
              </a:rPr>
              <a:t>Undertaken at</a:t>
            </a:r>
            <a:endParaRPr lang="en-US" sz="1100" dirty="0"/>
          </a:p>
        </p:txBody>
      </p:sp>
      <p:sp>
        <p:nvSpPr>
          <p:cNvPr id="12" name="Text 10"/>
          <p:cNvSpPr/>
          <p:nvPr/>
        </p:nvSpPr>
        <p:spPr>
          <a:xfrm>
            <a:off x="457200" y="3337560"/>
            <a:ext cx="8229600" cy="256032"/>
          </a:xfrm>
          <a:prstGeom prst="rect">
            <a:avLst/>
          </a:prstGeom>
          <a:noFill/>
          <a:ln/>
        </p:spPr>
        <p:txBody>
          <a:bodyPr wrap="square" lIns="0" tIns="0" rIns="0" bIns="0" rtlCol="0" anchor="ctr"/>
          <a:lstStyle/>
          <a:p>
            <a:pPr algn="ctr" indent="0" marL="0">
              <a:buNone/>
            </a:pPr>
            <a:r>
              <a:rPr lang="en-US" sz="1100" dirty="0">
                <a:solidFill>
                  <a:srgbClr val="4A4A4A"/>
                </a:solidFill>
              </a:rPr>
              <a:t>Cognizant Technology Solutions, Nagpur  (Internship Company Name)</a:t>
            </a:r>
            <a:endParaRPr lang="en-US" sz="1100" dirty="0"/>
          </a:p>
        </p:txBody>
      </p:sp>
      <p:sp>
        <p:nvSpPr>
          <p:cNvPr id="13" name="Text 11"/>
          <p:cNvSpPr/>
          <p:nvPr/>
        </p:nvSpPr>
        <p:spPr>
          <a:xfrm>
            <a:off x="457200" y="3657600"/>
            <a:ext cx="8229600" cy="256032"/>
          </a:xfrm>
          <a:prstGeom prst="rect">
            <a:avLst/>
          </a:prstGeom>
          <a:noFill/>
          <a:ln/>
        </p:spPr>
        <p:txBody>
          <a:bodyPr wrap="square" lIns="0" tIns="0" rIns="0" bIns="0" rtlCol="0" anchor="ctr"/>
          <a:lstStyle/>
          <a:p>
            <a:pPr algn="ctr" indent="0" marL="0">
              <a:buNone/>
            </a:pPr>
            <a:r>
              <a:rPr lang="en-US" sz="1100" b="1" dirty="0">
                <a:solidFill>
                  <a:srgbClr val="2E6DA4"/>
                </a:solidFill>
              </a:rPr>
              <a:t>Guide</a:t>
            </a:r>
            <a:endParaRPr lang="en-US" sz="1100" dirty="0"/>
          </a:p>
        </p:txBody>
      </p:sp>
      <p:sp>
        <p:nvSpPr>
          <p:cNvPr id="14" name="Text 12"/>
          <p:cNvSpPr/>
          <p:nvPr/>
        </p:nvSpPr>
        <p:spPr>
          <a:xfrm>
            <a:off x="457200" y="3913632"/>
            <a:ext cx="8229600" cy="237744"/>
          </a:xfrm>
          <a:prstGeom prst="rect">
            <a:avLst/>
          </a:prstGeom>
          <a:noFill/>
          <a:ln/>
        </p:spPr>
        <p:txBody>
          <a:bodyPr wrap="square" lIns="0" tIns="0" rIns="0" bIns="0" rtlCol="0" anchor="ctr"/>
          <a:lstStyle/>
          <a:p>
            <a:pPr algn="ctr" indent="0" marL="0">
              <a:buNone/>
            </a:pPr>
            <a:r>
              <a:rPr lang="en-US" sz="1100" dirty="0">
                <a:solidFill>
                  <a:srgbClr val="4A4A4A"/>
                </a:solidFill>
              </a:rPr>
              <a:t>1.  Ashly M. Benny  (Industry Guide)</a:t>
            </a:r>
            <a:endParaRPr lang="en-US" sz="1100" dirty="0"/>
          </a:p>
        </p:txBody>
      </p:sp>
      <p:sp>
        <p:nvSpPr>
          <p:cNvPr id="15" name="Text 13"/>
          <p:cNvSpPr/>
          <p:nvPr/>
        </p:nvSpPr>
        <p:spPr>
          <a:xfrm>
            <a:off x="457200" y="4151376"/>
            <a:ext cx="8229600" cy="237744"/>
          </a:xfrm>
          <a:prstGeom prst="rect">
            <a:avLst/>
          </a:prstGeom>
          <a:noFill/>
          <a:ln/>
        </p:spPr>
        <p:txBody>
          <a:bodyPr wrap="square" lIns="0" tIns="0" rIns="0" bIns="0" rtlCol="0" anchor="ctr"/>
          <a:lstStyle/>
          <a:p>
            <a:pPr algn="ctr" indent="0" marL="0">
              <a:buNone/>
            </a:pPr>
            <a:r>
              <a:rPr lang="en-US" sz="1100" dirty="0">
                <a:solidFill>
                  <a:srgbClr val="4A4A4A"/>
                </a:solidFill>
              </a:rPr>
              <a:t>2.  Dr. Piyush Ingole  (College Guide)</a:t>
            </a:r>
            <a:endParaRPr lang="en-US" sz="1100" dirty="0"/>
          </a:p>
        </p:txBody>
      </p:sp>
      <p:sp>
        <p:nvSpPr>
          <p:cNvPr id="16" name="Shape 14"/>
          <p:cNvSpPr/>
          <p:nvPr/>
        </p:nvSpPr>
        <p:spPr>
          <a:xfrm>
            <a:off x="0" y="4901184"/>
            <a:ext cx="9144000" cy="242316"/>
          </a:xfrm>
          <a:prstGeom prst="rect">
            <a:avLst/>
          </a:prstGeom>
          <a:solidFill>
            <a:srgbClr val="1A3A5C"/>
          </a:solidFill>
          <a:ln w="12700">
            <a:solidFill>
              <a:srgbClr val="1A3A5C"/>
            </a:solidFill>
            <a:prstDash val="solid"/>
          </a:ln>
        </p:spPr>
      </p:sp>
      <p:sp>
        <p:nvSpPr>
          <p:cNvPr id="17" name="Text 15"/>
          <p:cNvSpPr/>
          <p:nvPr/>
        </p:nvSpPr>
        <p:spPr>
          <a:xfrm>
            <a:off x="274320" y="4901184"/>
            <a:ext cx="8595360" cy="242316"/>
          </a:xfrm>
          <a:prstGeom prst="rect">
            <a:avLst/>
          </a:prstGeom>
          <a:noFill/>
          <a:ln/>
        </p:spPr>
        <p:txBody>
          <a:bodyPr wrap="square" lIns="0" tIns="0" rIns="0" bIns="0" rtlCol="0" anchor="ctr"/>
          <a:lstStyle/>
          <a:p>
            <a:pPr algn="ctr" indent="0" marL="0">
              <a:buNone/>
            </a:pPr>
            <a:r>
              <a:rPr lang="en-US" sz="1000" b="1" dirty="0">
                <a:solidFill>
                  <a:srgbClr val="D6E4F0"/>
                </a:solidFill>
              </a:rPr>
              <a:t>Session  2025 – 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5C"/>
          </a:solidFill>
          <a:ln w="12700">
            <a:solidFill>
              <a:srgbClr val="1A3A5C"/>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200" b="1" dirty="0">
                <a:solidFill>
                  <a:srgbClr val="FFFFFF"/>
                </a:solidFill>
              </a:rPr>
              <a:t>Table of Contents</a:t>
            </a:r>
            <a:endParaRPr lang="en-US" sz="2200" dirty="0"/>
          </a:p>
        </p:txBody>
      </p:sp>
      <p:sp>
        <p:nvSpPr>
          <p:cNvPr id="4" name="Shape 2"/>
          <p:cNvSpPr/>
          <p:nvPr/>
        </p:nvSpPr>
        <p:spPr>
          <a:xfrm>
            <a:off x="0" y="658368"/>
            <a:ext cx="9144000" cy="54864"/>
          </a:xfrm>
          <a:prstGeom prst="rect">
            <a:avLst/>
          </a:prstGeom>
          <a:solidFill>
            <a:srgbClr val="C8A951"/>
          </a:solidFill>
          <a:ln w="12700">
            <a:solidFill>
              <a:srgbClr val="C8A951"/>
            </a:solidFill>
            <a:prstDash val="solid"/>
          </a:ln>
        </p:spPr>
      </p:sp>
      <p:sp>
        <p:nvSpPr>
          <p:cNvPr id="5" name="Shape 3"/>
          <p:cNvSpPr/>
          <p:nvPr/>
        </p:nvSpPr>
        <p:spPr>
          <a:xfrm>
            <a:off x="0" y="4901184"/>
            <a:ext cx="9144000" cy="242316"/>
          </a:xfrm>
          <a:prstGeom prst="rect">
            <a:avLst/>
          </a:prstGeom>
          <a:solidFill>
            <a:srgbClr val="1A3A5C"/>
          </a:solidFill>
          <a:ln w="12700">
            <a:solidFill>
              <a:srgbClr val="1A3A5C"/>
            </a:solidFill>
            <a:prstDash val="solid"/>
          </a:ln>
        </p:spPr>
      </p:sp>
      <p:sp>
        <p:nvSpPr>
          <p:cNvPr id="6" name="Text 4"/>
          <p:cNvSpPr/>
          <p:nvPr/>
        </p:nvSpPr>
        <p:spPr>
          <a:xfrm>
            <a:off x="274320" y="4901184"/>
            <a:ext cx="8595360" cy="242316"/>
          </a:xfrm>
          <a:prstGeom prst="rect">
            <a:avLst/>
          </a:prstGeom>
          <a:noFill/>
          <a:ln/>
        </p:spPr>
        <p:txBody>
          <a:bodyPr wrap="square" lIns="0" tIns="0" rIns="0" bIns="0" rtlCol="0" anchor="ctr"/>
          <a:lstStyle/>
          <a:p>
            <a:pPr algn="ctr" indent="0" marL="0">
              <a:buNone/>
            </a:pPr>
            <a:r>
              <a:rPr lang="en-US" sz="850" dirty="0">
                <a:solidFill>
                  <a:srgbClr val="D6E4F0"/>
                </a:solidFill>
              </a:rPr>
              <a:t>Department of Computer Technology  |  YCCE, Nagpur  |  Session 2025–26</a:t>
            </a:r>
            <a:endParaRPr lang="en-US" sz="850" dirty="0"/>
          </a:p>
        </p:txBody>
      </p:sp>
      <p:sp>
        <p:nvSpPr>
          <p:cNvPr id="7" name="Shape 5"/>
          <p:cNvSpPr/>
          <p:nvPr/>
        </p:nvSpPr>
        <p:spPr>
          <a:xfrm>
            <a:off x="502920" y="1033272"/>
            <a:ext cx="530352" cy="475488"/>
          </a:xfrm>
          <a:prstGeom prst="rect">
            <a:avLst/>
          </a:prstGeom>
          <a:solidFill>
            <a:srgbClr val="1A3A5C"/>
          </a:solidFill>
          <a:ln w="12700">
            <a:solidFill>
              <a:srgbClr val="1A3A5C"/>
            </a:solidFill>
            <a:prstDash val="solid"/>
          </a:ln>
        </p:spPr>
      </p:sp>
      <p:sp>
        <p:nvSpPr>
          <p:cNvPr id="8" name="Text 6"/>
          <p:cNvSpPr/>
          <p:nvPr/>
        </p:nvSpPr>
        <p:spPr>
          <a:xfrm>
            <a:off x="502920" y="1033272"/>
            <a:ext cx="530352" cy="475488"/>
          </a:xfrm>
          <a:prstGeom prst="rect">
            <a:avLst/>
          </a:prstGeom>
          <a:noFill/>
          <a:ln/>
        </p:spPr>
        <p:txBody>
          <a:bodyPr wrap="square" lIns="0" tIns="0" rIns="0" bIns="0" rtlCol="0" anchor="ctr"/>
          <a:lstStyle/>
          <a:p>
            <a:pPr algn="ctr" indent="0" marL="0">
              <a:buNone/>
            </a:pPr>
            <a:r>
              <a:rPr lang="en-US" sz="1300" b="1" dirty="0">
                <a:solidFill>
                  <a:srgbClr val="FFFFFF"/>
                </a:solidFill>
              </a:rPr>
              <a:t>I.</a:t>
            </a:r>
            <a:endParaRPr lang="en-US" sz="1300" dirty="0"/>
          </a:p>
        </p:txBody>
      </p:sp>
      <p:sp>
        <p:nvSpPr>
          <p:cNvPr id="9" name="Shape 7"/>
          <p:cNvSpPr/>
          <p:nvPr/>
        </p:nvSpPr>
        <p:spPr>
          <a:xfrm>
            <a:off x="1143000" y="1033272"/>
            <a:ext cx="7543800" cy="475488"/>
          </a:xfrm>
          <a:prstGeom prst="rect">
            <a:avLst/>
          </a:prstGeom>
          <a:solidFill>
            <a:srgbClr val="D6E4F0"/>
          </a:solidFill>
          <a:ln w="12700">
            <a:solidFill>
              <a:srgbClr val="D6E4F0"/>
            </a:solidFill>
            <a:prstDash val="solid"/>
          </a:ln>
        </p:spPr>
      </p:sp>
      <p:sp>
        <p:nvSpPr>
          <p:cNvPr id="10" name="Text 8"/>
          <p:cNvSpPr/>
          <p:nvPr/>
        </p:nvSpPr>
        <p:spPr>
          <a:xfrm>
            <a:off x="1261872" y="1033272"/>
            <a:ext cx="7315200" cy="475488"/>
          </a:xfrm>
          <a:prstGeom prst="rect">
            <a:avLst/>
          </a:prstGeom>
          <a:noFill/>
          <a:ln/>
        </p:spPr>
        <p:txBody>
          <a:bodyPr wrap="square" lIns="0" tIns="0" rIns="0" bIns="0" rtlCol="0" anchor="ctr"/>
          <a:lstStyle/>
          <a:p>
            <a:pPr algn="l" indent="0" marL="0">
              <a:buNone/>
            </a:pPr>
            <a:r>
              <a:rPr lang="en-US" sz="1400" dirty="0">
                <a:solidFill>
                  <a:srgbClr val="4A4A4A"/>
                </a:solidFill>
              </a:rPr>
              <a:t>Introduction about Internship</a:t>
            </a:r>
            <a:endParaRPr lang="en-US" sz="1400" dirty="0"/>
          </a:p>
        </p:txBody>
      </p:sp>
      <p:sp>
        <p:nvSpPr>
          <p:cNvPr id="11" name="Shape 9"/>
          <p:cNvSpPr/>
          <p:nvPr/>
        </p:nvSpPr>
        <p:spPr>
          <a:xfrm>
            <a:off x="502920" y="1783080"/>
            <a:ext cx="530352" cy="475488"/>
          </a:xfrm>
          <a:prstGeom prst="rect">
            <a:avLst/>
          </a:prstGeom>
          <a:solidFill>
            <a:srgbClr val="2E6DA4"/>
          </a:solidFill>
          <a:ln w="12700">
            <a:solidFill>
              <a:srgbClr val="2E6DA4"/>
            </a:solidFill>
            <a:prstDash val="solid"/>
          </a:ln>
        </p:spPr>
      </p:sp>
      <p:sp>
        <p:nvSpPr>
          <p:cNvPr id="12" name="Text 10"/>
          <p:cNvSpPr/>
          <p:nvPr/>
        </p:nvSpPr>
        <p:spPr>
          <a:xfrm>
            <a:off x="502920" y="1783080"/>
            <a:ext cx="530352" cy="475488"/>
          </a:xfrm>
          <a:prstGeom prst="rect">
            <a:avLst/>
          </a:prstGeom>
          <a:noFill/>
          <a:ln/>
        </p:spPr>
        <p:txBody>
          <a:bodyPr wrap="square" lIns="0" tIns="0" rIns="0" bIns="0" rtlCol="0" anchor="ctr"/>
          <a:lstStyle/>
          <a:p>
            <a:pPr algn="ctr" indent="0" marL="0">
              <a:buNone/>
            </a:pPr>
            <a:r>
              <a:rPr lang="en-US" sz="1300" b="1" dirty="0">
                <a:solidFill>
                  <a:srgbClr val="FFFFFF"/>
                </a:solidFill>
              </a:rPr>
              <a:t>II.</a:t>
            </a:r>
            <a:endParaRPr lang="en-US" sz="1300" dirty="0"/>
          </a:p>
        </p:txBody>
      </p:sp>
      <p:sp>
        <p:nvSpPr>
          <p:cNvPr id="13" name="Shape 11"/>
          <p:cNvSpPr/>
          <p:nvPr/>
        </p:nvSpPr>
        <p:spPr>
          <a:xfrm>
            <a:off x="1143000" y="1783080"/>
            <a:ext cx="7543800" cy="475488"/>
          </a:xfrm>
          <a:prstGeom prst="rect">
            <a:avLst/>
          </a:prstGeom>
          <a:solidFill>
            <a:srgbClr val="FFFFFF"/>
          </a:solidFill>
          <a:ln w="12700">
            <a:solidFill>
              <a:srgbClr val="FFFFFF"/>
            </a:solidFill>
            <a:prstDash val="solid"/>
          </a:ln>
        </p:spPr>
      </p:sp>
      <p:sp>
        <p:nvSpPr>
          <p:cNvPr id="14" name="Text 12"/>
          <p:cNvSpPr/>
          <p:nvPr/>
        </p:nvSpPr>
        <p:spPr>
          <a:xfrm>
            <a:off x="1261872" y="1783080"/>
            <a:ext cx="7315200" cy="475488"/>
          </a:xfrm>
          <a:prstGeom prst="rect">
            <a:avLst/>
          </a:prstGeom>
          <a:noFill/>
          <a:ln/>
        </p:spPr>
        <p:txBody>
          <a:bodyPr wrap="square" lIns="0" tIns="0" rIns="0" bIns="0" rtlCol="0" anchor="ctr"/>
          <a:lstStyle/>
          <a:p>
            <a:pPr algn="l" indent="0" marL="0">
              <a:buNone/>
            </a:pPr>
            <a:r>
              <a:rPr lang="en-US" sz="1400" dirty="0">
                <a:solidFill>
                  <a:srgbClr val="4A4A4A"/>
                </a:solidFill>
              </a:rPr>
              <a:t>Introduction about Company</a:t>
            </a:r>
            <a:endParaRPr lang="en-US" sz="1400" dirty="0"/>
          </a:p>
        </p:txBody>
      </p:sp>
      <p:sp>
        <p:nvSpPr>
          <p:cNvPr id="15" name="Shape 13"/>
          <p:cNvSpPr/>
          <p:nvPr/>
        </p:nvSpPr>
        <p:spPr>
          <a:xfrm>
            <a:off x="502920" y="2532888"/>
            <a:ext cx="530352" cy="475488"/>
          </a:xfrm>
          <a:prstGeom prst="rect">
            <a:avLst/>
          </a:prstGeom>
          <a:solidFill>
            <a:srgbClr val="1A3A5C"/>
          </a:solidFill>
          <a:ln w="12700">
            <a:solidFill>
              <a:srgbClr val="1A3A5C"/>
            </a:solidFill>
            <a:prstDash val="solid"/>
          </a:ln>
        </p:spPr>
      </p:sp>
      <p:sp>
        <p:nvSpPr>
          <p:cNvPr id="16" name="Text 14"/>
          <p:cNvSpPr/>
          <p:nvPr/>
        </p:nvSpPr>
        <p:spPr>
          <a:xfrm>
            <a:off x="502920" y="2532888"/>
            <a:ext cx="530352" cy="475488"/>
          </a:xfrm>
          <a:prstGeom prst="rect">
            <a:avLst/>
          </a:prstGeom>
          <a:noFill/>
          <a:ln/>
        </p:spPr>
        <p:txBody>
          <a:bodyPr wrap="square" lIns="0" tIns="0" rIns="0" bIns="0" rtlCol="0" anchor="ctr"/>
          <a:lstStyle/>
          <a:p>
            <a:pPr algn="ctr" indent="0" marL="0">
              <a:buNone/>
            </a:pPr>
            <a:r>
              <a:rPr lang="en-US" sz="1300" b="1" dirty="0">
                <a:solidFill>
                  <a:srgbClr val="FFFFFF"/>
                </a:solidFill>
              </a:rPr>
              <a:t>III.</a:t>
            </a:r>
            <a:endParaRPr lang="en-US" sz="1300" dirty="0"/>
          </a:p>
        </p:txBody>
      </p:sp>
      <p:sp>
        <p:nvSpPr>
          <p:cNvPr id="17" name="Shape 15"/>
          <p:cNvSpPr/>
          <p:nvPr/>
        </p:nvSpPr>
        <p:spPr>
          <a:xfrm>
            <a:off x="1143000" y="2532888"/>
            <a:ext cx="7543800" cy="475488"/>
          </a:xfrm>
          <a:prstGeom prst="rect">
            <a:avLst/>
          </a:prstGeom>
          <a:solidFill>
            <a:srgbClr val="D6E4F0"/>
          </a:solidFill>
          <a:ln w="12700">
            <a:solidFill>
              <a:srgbClr val="D6E4F0"/>
            </a:solidFill>
            <a:prstDash val="solid"/>
          </a:ln>
        </p:spPr>
      </p:sp>
      <p:sp>
        <p:nvSpPr>
          <p:cNvPr id="18" name="Text 16"/>
          <p:cNvSpPr/>
          <p:nvPr/>
        </p:nvSpPr>
        <p:spPr>
          <a:xfrm>
            <a:off x="1261872" y="2532888"/>
            <a:ext cx="7315200" cy="475488"/>
          </a:xfrm>
          <a:prstGeom prst="rect">
            <a:avLst/>
          </a:prstGeom>
          <a:noFill/>
          <a:ln/>
        </p:spPr>
        <p:txBody>
          <a:bodyPr wrap="square" lIns="0" tIns="0" rIns="0" bIns="0" rtlCol="0" anchor="ctr"/>
          <a:lstStyle/>
          <a:p>
            <a:pPr algn="l" indent="0" marL="0">
              <a:buNone/>
            </a:pPr>
            <a:r>
              <a:rPr lang="en-US" sz="1400" dirty="0">
                <a:solidFill>
                  <a:srgbClr val="4A4A4A"/>
                </a:solidFill>
              </a:rPr>
              <a:t>Working Domain</a:t>
            </a:r>
            <a:endParaRPr lang="en-US" sz="1400" dirty="0"/>
          </a:p>
        </p:txBody>
      </p:sp>
      <p:sp>
        <p:nvSpPr>
          <p:cNvPr id="19" name="Shape 17"/>
          <p:cNvSpPr/>
          <p:nvPr/>
        </p:nvSpPr>
        <p:spPr>
          <a:xfrm>
            <a:off x="502920" y="3282696"/>
            <a:ext cx="530352" cy="475488"/>
          </a:xfrm>
          <a:prstGeom prst="rect">
            <a:avLst/>
          </a:prstGeom>
          <a:solidFill>
            <a:srgbClr val="2E6DA4"/>
          </a:solidFill>
          <a:ln w="12700">
            <a:solidFill>
              <a:srgbClr val="2E6DA4"/>
            </a:solidFill>
            <a:prstDash val="solid"/>
          </a:ln>
        </p:spPr>
      </p:sp>
      <p:sp>
        <p:nvSpPr>
          <p:cNvPr id="20" name="Text 18"/>
          <p:cNvSpPr/>
          <p:nvPr/>
        </p:nvSpPr>
        <p:spPr>
          <a:xfrm>
            <a:off x="502920" y="3282696"/>
            <a:ext cx="530352" cy="475488"/>
          </a:xfrm>
          <a:prstGeom prst="rect">
            <a:avLst/>
          </a:prstGeom>
          <a:noFill/>
          <a:ln/>
        </p:spPr>
        <p:txBody>
          <a:bodyPr wrap="square" lIns="0" tIns="0" rIns="0" bIns="0" rtlCol="0" anchor="ctr"/>
          <a:lstStyle/>
          <a:p>
            <a:pPr algn="ctr" indent="0" marL="0">
              <a:buNone/>
            </a:pPr>
            <a:r>
              <a:rPr lang="en-US" sz="1300" b="1" dirty="0">
                <a:solidFill>
                  <a:srgbClr val="FFFFFF"/>
                </a:solidFill>
              </a:rPr>
              <a:t>IV.</a:t>
            </a:r>
            <a:endParaRPr lang="en-US" sz="1300" dirty="0"/>
          </a:p>
        </p:txBody>
      </p:sp>
      <p:sp>
        <p:nvSpPr>
          <p:cNvPr id="21" name="Shape 19"/>
          <p:cNvSpPr/>
          <p:nvPr/>
        </p:nvSpPr>
        <p:spPr>
          <a:xfrm>
            <a:off x="1143000" y="3282696"/>
            <a:ext cx="7543800" cy="475488"/>
          </a:xfrm>
          <a:prstGeom prst="rect">
            <a:avLst/>
          </a:prstGeom>
          <a:solidFill>
            <a:srgbClr val="FFFFFF"/>
          </a:solidFill>
          <a:ln w="12700">
            <a:solidFill>
              <a:srgbClr val="FFFFFF"/>
            </a:solidFill>
            <a:prstDash val="solid"/>
          </a:ln>
        </p:spPr>
      </p:sp>
      <p:sp>
        <p:nvSpPr>
          <p:cNvPr id="22" name="Text 20"/>
          <p:cNvSpPr/>
          <p:nvPr/>
        </p:nvSpPr>
        <p:spPr>
          <a:xfrm>
            <a:off x="1261872" y="3282696"/>
            <a:ext cx="7315200" cy="475488"/>
          </a:xfrm>
          <a:prstGeom prst="rect">
            <a:avLst/>
          </a:prstGeom>
          <a:noFill/>
          <a:ln/>
        </p:spPr>
        <p:txBody>
          <a:bodyPr wrap="square" lIns="0" tIns="0" rIns="0" bIns="0" rtlCol="0" anchor="ctr"/>
          <a:lstStyle/>
          <a:p>
            <a:pPr algn="l" indent="0" marL="0">
              <a:buNone/>
            </a:pPr>
            <a:r>
              <a:rPr lang="en-US" sz="1400" dirty="0">
                <a:solidFill>
                  <a:srgbClr val="4A4A4A"/>
                </a:solidFill>
              </a:rPr>
              <a:t>Topic of Internship (Work)</a:t>
            </a:r>
            <a:endParaRPr lang="en-US" sz="1400" dirty="0"/>
          </a:p>
          <a:p>
            <a:pPr algn="l" indent="0" marL="0">
              <a:buNone/>
            </a:pPr>
            <a:r>
              <a:rPr lang="en-US" sz="1400" dirty="0">
                <a:solidFill>
                  <a:srgbClr val="4A4A4A"/>
                </a:solidFill>
              </a:rPr>
              <a:t>        Plan of Action</a:t>
            </a:r>
            <a:endParaRPr lang="en-US" sz="1400" dirty="0"/>
          </a:p>
        </p:txBody>
      </p:sp>
      <p:sp>
        <p:nvSpPr>
          <p:cNvPr id="23" name="Shape 21"/>
          <p:cNvSpPr/>
          <p:nvPr/>
        </p:nvSpPr>
        <p:spPr>
          <a:xfrm>
            <a:off x="502920" y="4032504"/>
            <a:ext cx="530352" cy="475488"/>
          </a:xfrm>
          <a:prstGeom prst="rect">
            <a:avLst/>
          </a:prstGeom>
          <a:solidFill>
            <a:srgbClr val="1A3A5C"/>
          </a:solidFill>
          <a:ln w="12700">
            <a:solidFill>
              <a:srgbClr val="1A3A5C"/>
            </a:solidFill>
            <a:prstDash val="solid"/>
          </a:ln>
        </p:spPr>
      </p:sp>
      <p:sp>
        <p:nvSpPr>
          <p:cNvPr id="24" name="Text 22"/>
          <p:cNvSpPr/>
          <p:nvPr/>
        </p:nvSpPr>
        <p:spPr>
          <a:xfrm>
            <a:off x="502920" y="4032504"/>
            <a:ext cx="530352" cy="475488"/>
          </a:xfrm>
          <a:prstGeom prst="rect">
            <a:avLst/>
          </a:prstGeom>
          <a:noFill/>
          <a:ln/>
        </p:spPr>
        <p:txBody>
          <a:bodyPr wrap="square" lIns="0" tIns="0" rIns="0" bIns="0" rtlCol="0" anchor="ctr"/>
          <a:lstStyle/>
          <a:p>
            <a:pPr algn="ctr" indent="0" marL="0">
              <a:buNone/>
            </a:pPr>
            <a:r>
              <a:rPr lang="en-US" sz="1300" b="1" dirty="0">
                <a:solidFill>
                  <a:srgbClr val="FFFFFF"/>
                </a:solidFill>
              </a:rPr>
              <a:t>V.</a:t>
            </a:r>
            <a:endParaRPr lang="en-US" sz="1300" dirty="0"/>
          </a:p>
        </p:txBody>
      </p:sp>
      <p:sp>
        <p:nvSpPr>
          <p:cNvPr id="25" name="Shape 23"/>
          <p:cNvSpPr/>
          <p:nvPr/>
        </p:nvSpPr>
        <p:spPr>
          <a:xfrm>
            <a:off x="1143000" y="4032504"/>
            <a:ext cx="7543800" cy="475488"/>
          </a:xfrm>
          <a:prstGeom prst="rect">
            <a:avLst/>
          </a:prstGeom>
          <a:solidFill>
            <a:srgbClr val="D6E4F0"/>
          </a:solidFill>
          <a:ln w="12700">
            <a:solidFill>
              <a:srgbClr val="D6E4F0"/>
            </a:solidFill>
            <a:prstDash val="solid"/>
          </a:ln>
        </p:spPr>
      </p:sp>
      <p:sp>
        <p:nvSpPr>
          <p:cNvPr id="26" name="Text 24"/>
          <p:cNvSpPr/>
          <p:nvPr/>
        </p:nvSpPr>
        <p:spPr>
          <a:xfrm>
            <a:off x="1261872" y="4032504"/>
            <a:ext cx="7315200" cy="475488"/>
          </a:xfrm>
          <a:prstGeom prst="rect">
            <a:avLst/>
          </a:prstGeom>
          <a:noFill/>
          <a:ln/>
        </p:spPr>
        <p:txBody>
          <a:bodyPr wrap="square" lIns="0" tIns="0" rIns="0" bIns="0" rtlCol="0" anchor="ctr"/>
          <a:lstStyle/>
          <a:p>
            <a:pPr algn="l" indent="0" marL="0">
              <a:buNone/>
            </a:pPr>
            <a:r>
              <a:rPr lang="en-US" sz="1400" dirty="0">
                <a:solidFill>
                  <a:srgbClr val="4A4A4A"/>
                </a:solidFill>
              </a:rPr>
              <a:t>References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5C"/>
          </a:solidFill>
          <a:ln w="12700">
            <a:solidFill>
              <a:srgbClr val="1A3A5C"/>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200" b="1" dirty="0">
                <a:solidFill>
                  <a:srgbClr val="FFFFFF"/>
                </a:solidFill>
              </a:rPr>
              <a:t>I.  Introduction about Internship</a:t>
            </a:r>
            <a:endParaRPr lang="en-US" sz="2200" dirty="0"/>
          </a:p>
        </p:txBody>
      </p:sp>
      <p:sp>
        <p:nvSpPr>
          <p:cNvPr id="4" name="Shape 2"/>
          <p:cNvSpPr/>
          <p:nvPr/>
        </p:nvSpPr>
        <p:spPr>
          <a:xfrm>
            <a:off x="0" y="658368"/>
            <a:ext cx="9144000" cy="54864"/>
          </a:xfrm>
          <a:prstGeom prst="rect">
            <a:avLst/>
          </a:prstGeom>
          <a:solidFill>
            <a:srgbClr val="C8A951"/>
          </a:solidFill>
          <a:ln w="12700">
            <a:solidFill>
              <a:srgbClr val="C8A951"/>
            </a:solidFill>
            <a:prstDash val="solid"/>
          </a:ln>
        </p:spPr>
      </p:sp>
      <p:sp>
        <p:nvSpPr>
          <p:cNvPr id="5" name="Shape 3"/>
          <p:cNvSpPr/>
          <p:nvPr/>
        </p:nvSpPr>
        <p:spPr>
          <a:xfrm>
            <a:off x="0" y="4901184"/>
            <a:ext cx="9144000" cy="242316"/>
          </a:xfrm>
          <a:prstGeom prst="rect">
            <a:avLst/>
          </a:prstGeom>
          <a:solidFill>
            <a:srgbClr val="1A3A5C"/>
          </a:solidFill>
          <a:ln w="12700">
            <a:solidFill>
              <a:srgbClr val="1A3A5C"/>
            </a:solidFill>
            <a:prstDash val="solid"/>
          </a:ln>
        </p:spPr>
      </p:sp>
      <p:sp>
        <p:nvSpPr>
          <p:cNvPr id="6" name="Text 4"/>
          <p:cNvSpPr/>
          <p:nvPr/>
        </p:nvSpPr>
        <p:spPr>
          <a:xfrm>
            <a:off x="274320" y="4901184"/>
            <a:ext cx="8595360" cy="242316"/>
          </a:xfrm>
          <a:prstGeom prst="rect">
            <a:avLst/>
          </a:prstGeom>
          <a:noFill/>
          <a:ln/>
        </p:spPr>
        <p:txBody>
          <a:bodyPr wrap="square" lIns="0" tIns="0" rIns="0" bIns="0" rtlCol="0" anchor="ctr"/>
          <a:lstStyle/>
          <a:p>
            <a:pPr algn="ctr" indent="0" marL="0">
              <a:buNone/>
            </a:pPr>
            <a:r>
              <a:rPr lang="en-US" sz="850" dirty="0">
                <a:solidFill>
                  <a:srgbClr val="D6E4F0"/>
                </a:solidFill>
              </a:rPr>
              <a:t>Department of Computer Technology  |  YCCE, Nagpur  |  Session 2025–26</a:t>
            </a:r>
            <a:endParaRPr lang="en-US" sz="850" dirty="0"/>
          </a:p>
        </p:txBody>
      </p:sp>
      <p:sp>
        <p:nvSpPr>
          <p:cNvPr id="7" name="Shape 5"/>
          <p:cNvSpPr/>
          <p:nvPr/>
        </p:nvSpPr>
        <p:spPr>
          <a:xfrm>
            <a:off x="365760" y="868680"/>
            <a:ext cx="64008" cy="987552"/>
          </a:xfrm>
          <a:prstGeom prst="rect">
            <a:avLst/>
          </a:prstGeom>
          <a:solidFill>
            <a:srgbClr val="C8A951"/>
          </a:solidFill>
          <a:ln w="12700">
            <a:solidFill>
              <a:srgbClr val="C8A951"/>
            </a:solidFill>
            <a:prstDash val="solid"/>
          </a:ln>
        </p:spPr>
      </p:sp>
      <p:sp>
        <p:nvSpPr>
          <p:cNvPr id="8" name="Text 6"/>
          <p:cNvSpPr/>
          <p:nvPr/>
        </p:nvSpPr>
        <p:spPr>
          <a:xfrm>
            <a:off x="566928" y="868680"/>
            <a:ext cx="8229600" cy="1051560"/>
          </a:xfrm>
          <a:prstGeom prst="rect">
            <a:avLst/>
          </a:prstGeom>
          <a:noFill/>
          <a:ln/>
        </p:spPr>
        <p:txBody>
          <a:bodyPr wrap="square" lIns="0" tIns="0" rIns="0" bIns="0" rtlCol="0" anchor="t"/>
          <a:lstStyle/>
          <a:p>
            <a:pPr algn="l" indent="0" marL="0">
              <a:buNone/>
            </a:pPr>
            <a:r>
              <a:rPr lang="en-US" sz="1250" dirty="0">
                <a:solidFill>
                  <a:srgbClr val="4A4A4A"/>
                </a:solidFill>
              </a:rPr>
              <a:t>The rapid growth of digital technology has transformed the delivery of education and professional training globally. Online learning platforms such as Coursera have become integral to skill development, offering thousands of courses across programming, data science, language learning, and business management.</a:t>
            </a:r>
            <a:endParaRPr lang="en-US" sz="1250" dirty="0"/>
          </a:p>
        </p:txBody>
      </p:sp>
      <p:sp>
        <p:nvSpPr>
          <p:cNvPr id="9" name="Shape 7"/>
          <p:cNvSpPr/>
          <p:nvPr/>
        </p:nvSpPr>
        <p:spPr>
          <a:xfrm>
            <a:off x="365760" y="2167128"/>
            <a:ext cx="64008" cy="987552"/>
          </a:xfrm>
          <a:prstGeom prst="rect">
            <a:avLst/>
          </a:prstGeom>
          <a:solidFill>
            <a:srgbClr val="C8A951"/>
          </a:solidFill>
          <a:ln w="12700">
            <a:solidFill>
              <a:srgbClr val="C8A951"/>
            </a:solidFill>
            <a:prstDash val="solid"/>
          </a:ln>
        </p:spPr>
      </p:sp>
      <p:sp>
        <p:nvSpPr>
          <p:cNvPr id="10" name="Text 8"/>
          <p:cNvSpPr/>
          <p:nvPr/>
        </p:nvSpPr>
        <p:spPr>
          <a:xfrm>
            <a:off x="566928" y="2167128"/>
            <a:ext cx="8229600" cy="1051560"/>
          </a:xfrm>
          <a:prstGeom prst="rect">
            <a:avLst/>
          </a:prstGeom>
          <a:noFill/>
          <a:ln/>
        </p:spPr>
        <p:txBody>
          <a:bodyPr wrap="square" lIns="0" tIns="0" rIns="0" bIns="0" rtlCol="0" anchor="t"/>
          <a:lstStyle/>
          <a:p>
            <a:pPr algn="l" indent="0" marL="0">
              <a:buNone/>
            </a:pPr>
            <a:r>
              <a:rPr lang="en-US" sz="1250" dirty="0">
                <a:solidFill>
                  <a:srgbClr val="4A4A4A"/>
                </a:solidFill>
              </a:rPr>
              <a:t>This internship was undertaken at Cognizant Technology Solutions as part of the Generation Cognizant (GenC) Quality Engineering and Assurance (QEA) program — a structured 65-day learning initiative for fresh engineering talent.</a:t>
            </a:r>
            <a:endParaRPr lang="en-US" sz="1250" dirty="0"/>
          </a:p>
        </p:txBody>
      </p:sp>
      <p:sp>
        <p:nvSpPr>
          <p:cNvPr id="11" name="Shape 9"/>
          <p:cNvSpPr/>
          <p:nvPr/>
        </p:nvSpPr>
        <p:spPr>
          <a:xfrm>
            <a:off x="365760" y="3465576"/>
            <a:ext cx="64008" cy="987552"/>
          </a:xfrm>
          <a:prstGeom prst="rect">
            <a:avLst/>
          </a:prstGeom>
          <a:solidFill>
            <a:srgbClr val="C8A951"/>
          </a:solidFill>
          <a:ln w="12700">
            <a:solidFill>
              <a:srgbClr val="C8A951"/>
            </a:solidFill>
            <a:prstDash val="solid"/>
          </a:ln>
        </p:spPr>
      </p:sp>
      <p:sp>
        <p:nvSpPr>
          <p:cNvPr id="12" name="Text 10"/>
          <p:cNvSpPr/>
          <p:nvPr/>
        </p:nvSpPr>
        <p:spPr>
          <a:xfrm>
            <a:off x="566928" y="3465576"/>
            <a:ext cx="8229600" cy="1051560"/>
          </a:xfrm>
          <a:prstGeom prst="rect">
            <a:avLst/>
          </a:prstGeom>
          <a:noFill/>
          <a:ln/>
        </p:spPr>
        <p:txBody>
          <a:bodyPr wrap="square" lIns="0" tIns="0" rIns="0" bIns="0" rtlCol="0" anchor="t"/>
          <a:lstStyle/>
          <a:p>
            <a:pPr algn="l" indent="0" marL="0">
              <a:buNone/>
            </a:pPr>
            <a:r>
              <a:rPr lang="en-US" sz="1250" dirty="0">
                <a:solidFill>
                  <a:srgbClr val="4A4A4A"/>
                </a:solidFill>
              </a:rPr>
              <a:t>The project focused on automating key user workflows on the Coursera platform using browser automation tools, gaining practical experience in software testing, web automation, and industry-standard QA practices.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5C"/>
          </a:solidFill>
          <a:ln w="12700">
            <a:solidFill>
              <a:srgbClr val="1A3A5C"/>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200" b="1" dirty="0">
                <a:solidFill>
                  <a:srgbClr val="FFFFFF"/>
                </a:solidFill>
              </a:rPr>
              <a:t>II.  Introduction about Company</a:t>
            </a:r>
            <a:endParaRPr lang="en-US" sz="2200" dirty="0"/>
          </a:p>
        </p:txBody>
      </p:sp>
      <p:sp>
        <p:nvSpPr>
          <p:cNvPr id="4" name="Shape 2"/>
          <p:cNvSpPr/>
          <p:nvPr/>
        </p:nvSpPr>
        <p:spPr>
          <a:xfrm>
            <a:off x="0" y="658368"/>
            <a:ext cx="9144000" cy="54864"/>
          </a:xfrm>
          <a:prstGeom prst="rect">
            <a:avLst/>
          </a:prstGeom>
          <a:solidFill>
            <a:srgbClr val="C8A951"/>
          </a:solidFill>
          <a:ln w="12700">
            <a:solidFill>
              <a:srgbClr val="C8A951"/>
            </a:solidFill>
            <a:prstDash val="solid"/>
          </a:ln>
        </p:spPr>
      </p:sp>
      <p:sp>
        <p:nvSpPr>
          <p:cNvPr id="5" name="Shape 3"/>
          <p:cNvSpPr/>
          <p:nvPr/>
        </p:nvSpPr>
        <p:spPr>
          <a:xfrm>
            <a:off x="0" y="4901184"/>
            <a:ext cx="9144000" cy="242316"/>
          </a:xfrm>
          <a:prstGeom prst="rect">
            <a:avLst/>
          </a:prstGeom>
          <a:solidFill>
            <a:srgbClr val="1A3A5C"/>
          </a:solidFill>
          <a:ln w="12700">
            <a:solidFill>
              <a:srgbClr val="1A3A5C"/>
            </a:solidFill>
            <a:prstDash val="solid"/>
          </a:ln>
        </p:spPr>
      </p:sp>
      <p:sp>
        <p:nvSpPr>
          <p:cNvPr id="6" name="Text 4"/>
          <p:cNvSpPr/>
          <p:nvPr/>
        </p:nvSpPr>
        <p:spPr>
          <a:xfrm>
            <a:off x="274320" y="4901184"/>
            <a:ext cx="8595360" cy="242316"/>
          </a:xfrm>
          <a:prstGeom prst="rect">
            <a:avLst/>
          </a:prstGeom>
          <a:noFill/>
          <a:ln/>
        </p:spPr>
        <p:txBody>
          <a:bodyPr wrap="square" lIns="0" tIns="0" rIns="0" bIns="0" rtlCol="0" anchor="ctr"/>
          <a:lstStyle/>
          <a:p>
            <a:pPr algn="ctr" indent="0" marL="0">
              <a:buNone/>
            </a:pPr>
            <a:r>
              <a:rPr lang="en-US" sz="850" dirty="0">
                <a:solidFill>
                  <a:srgbClr val="D6E4F0"/>
                </a:solidFill>
              </a:rPr>
              <a:t>Department of Computer Technology  |  YCCE, Nagpur  |  Session 2025–26</a:t>
            </a:r>
            <a:endParaRPr lang="en-US" sz="850" dirty="0"/>
          </a:p>
        </p:txBody>
      </p:sp>
      <p:sp>
        <p:nvSpPr>
          <p:cNvPr id="7" name="Text 5"/>
          <p:cNvSpPr/>
          <p:nvPr/>
        </p:nvSpPr>
        <p:spPr>
          <a:xfrm>
            <a:off x="365760" y="804672"/>
            <a:ext cx="8412480" cy="438912"/>
          </a:xfrm>
          <a:prstGeom prst="rect">
            <a:avLst/>
          </a:prstGeom>
          <a:noFill/>
          <a:ln/>
        </p:spPr>
        <p:txBody>
          <a:bodyPr wrap="square" lIns="0" tIns="0" rIns="0" bIns="0" rtlCol="0" anchor="ctr"/>
          <a:lstStyle/>
          <a:p>
            <a:pPr algn="l" indent="0" marL="0">
              <a:buNone/>
            </a:pPr>
            <a:r>
              <a:rPr lang="en-US" sz="1800" b="1" dirty="0">
                <a:solidFill>
                  <a:srgbClr val="1A3A5C"/>
                </a:solidFill>
              </a:rPr>
              <a:t>Cognizant Technology Solutions</a:t>
            </a:r>
            <a:endParaRPr lang="en-US" sz="1800" dirty="0"/>
          </a:p>
        </p:txBody>
      </p:sp>
      <p:sp>
        <p:nvSpPr>
          <p:cNvPr id="8" name="Shape 6"/>
          <p:cNvSpPr/>
          <p:nvPr/>
        </p:nvSpPr>
        <p:spPr>
          <a:xfrm>
            <a:off x="365760" y="1243584"/>
            <a:ext cx="5029200" cy="36576"/>
          </a:xfrm>
          <a:prstGeom prst="rect">
            <a:avLst/>
          </a:prstGeom>
          <a:solidFill>
            <a:srgbClr val="C8A951"/>
          </a:solidFill>
          <a:ln w="12700">
            <a:solidFill>
              <a:srgbClr val="C8A951"/>
            </a:solidFill>
            <a:prstDash val="solid"/>
          </a:ln>
        </p:spPr>
      </p:sp>
      <p:sp>
        <p:nvSpPr>
          <p:cNvPr id="9" name="Shape 7"/>
          <p:cNvSpPr/>
          <p:nvPr/>
        </p:nvSpPr>
        <p:spPr>
          <a:xfrm>
            <a:off x="365760" y="1371600"/>
            <a:ext cx="4160520" cy="594360"/>
          </a:xfrm>
          <a:prstGeom prst="rect">
            <a:avLst/>
          </a:prstGeom>
          <a:solidFill>
            <a:srgbClr val="D6E4F0"/>
          </a:solidFill>
          <a:ln w="12700">
            <a:solidFill>
              <a:srgbClr val="5B9BD5"/>
            </a:solidFill>
            <a:prstDash val="solid"/>
          </a:ln>
        </p:spPr>
      </p:sp>
      <p:sp>
        <p:nvSpPr>
          <p:cNvPr id="10" name="Text 8"/>
          <p:cNvSpPr/>
          <p:nvPr/>
        </p:nvSpPr>
        <p:spPr>
          <a:xfrm>
            <a:off x="475488" y="1408176"/>
            <a:ext cx="3931920" cy="256032"/>
          </a:xfrm>
          <a:prstGeom prst="rect">
            <a:avLst/>
          </a:prstGeom>
          <a:noFill/>
          <a:ln/>
        </p:spPr>
        <p:txBody>
          <a:bodyPr wrap="square" lIns="0" tIns="0" rIns="0" bIns="0" rtlCol="0" anchor="ctr"/>
          <a:lstStyle/>
          <a:p>
            <a:pPr indent="0" marL="0">
              <a:buNone/>
            </a:pPr>
            <a:r>
              <a:rPr lang="en-US" sz="1000" b="1" dirty="0">
                <a:solidFill>
                  <a:srgbClr val="1A3A5C"/>
                </a:solidFill>
              </a:rPr>
              <a:t>Headquarters:</a:t>
            </a:r>
            <a:endParaRPr lang="en-US" sz="1000" dirty="0"/>
          </a:p>
        </p:txBody>
      </p:sp>
      <p:sp>
        <p:nvSpPr>
          <p:cNvPr id="11" name="Text 9"/>
          <p:cNvSpPr/>
          <p:nvPr/>
        </p:nvSpPr>
        <p:spPr>
          <a:xfrm>
            <a:off x="475488" y="1664208"/>
            <a:ext cx="3931920" cy="237744"/>
          </a:xfrm>
          <a:prstGeom prst="rect">
            <a:avLst/>
          </a:prstGeom>
          <a:noFill/>
          <a:ln/>
        </p:spPr>
        <p:txBody>
          <a:bodyPr wrap="square" lIns="0" tIns="0" rIns="0" bIns="0" rtlCol="0" anchor="ctr"/>
          <a:lstStyle/>
          <a:p>
            <a:pPr indent="0" marL="0">
              <a:buNone/>
            </a:pPr>
            <a:r>
              <a:rPr lang="en-US" sz="1050" dirty="0">
                <a:solidFill>
                  <a:srgbClr val="4A4A4A"/>
                </a:solidFill>
              </a:rPr>
              <a:t>Teaneck, New Jersey, USA</a:t>
            </a:r>
            <a:endParaRPr lang="en-US" sz="1050" dirty="0"/>
          </a:p>
        </p:txBody>
      </p:sp>
      <p:sp>
        <p:nvSpPr>
          <p:cNvPr id="12" name="Shape 10"/>
          <p:cNvSpPr/>
          <p:nvPr/>
        </p:nvSpPr>
        <p:spPr>
          <a:xfrm>
            <a:off x="4773168" y="1371600"/>
            <a:ext cx="4160520" cy="594360"/>
          </a:xfrm>
          <a:prstGeom prst="rect">
            <a:avLst/>
          </a:prstGeom>
          <a:solidFill>
            <a:srgbClr val="D6E4F0"/>
          </a:solidFill>
          <a:ln w="12700">
            <a:solidFill>
              <a:srgbClr val="5B9BD5"/>
            </a:solidFill>
            <a:prstDash val="solid"/>
          </a:ln>
        </p:spPr>
      </p:sp>
      <p:sp>
        <p:nvSpPr>
          <p:cNvPr id="13" name="Text 11"/>
          <p:cNvSpPr/>
          <p:nvPr/>
        </p:nvSpPr>
        <p:spPr>
          <a:xfrm>
            <a:off x="4882896" y="1408176"/>
            <a:ext cx="3931920" cy="256032"/>
          </a:xfrm>
          <a:prstGeom prst="rect">
            <a:avLst/>
          </a:prstGeom>
          <a:noFill/>
          <a:ln/>
        </p:spPr>
        <p:txBody>
          <a:bodyPr wrap="square" lIns="0" tIns="0" rIns="0" bIns="0" rtlCol="0" anchor="ctr"/>
          <a:lstStyle/>
          <a:p>
            <a:pPr indent="0" marL="0">
              <a:buNone/>
            </a:pPr>
            <a:r>
              <a:rPr lang="en-US" sz="1000" b="1" dirty="0">
                <a:solidFill>
                  <a:srgbClr val="1A3A5C"/>
                </a:solidFill>
              </a:rPr>
              <a:t>Listed on:</a:t>
            </a:r>
            <a:endParaRPr lang="en-US" sz="1000" dirty="0"/>
          </a:p>
        </p:txBody>
      </p:sp>
      <p:sp>
        <p:nvSpPr>
          <p:cNvPr id="14" name="Text 12"/>
          <p:cNvSpPr/>
          <p:nvPr/>
        </p:nvSpPr>
        <p:spPr>
          <a:xfrm>
            <a:off x="4882896" y="1664208"/>
            <a:ext cx="3931920" cy="237744"/>
          </a:xfrm>
          <a:prstGeom prst="rect">
            <a:avLst/>
          </a:prstGeom>
          <a:noFill/>
          <a:ln/>
        </p:spPr>
        <p:txBody>
          <a:bodyPr wrap="square" lIns="0" tIns="0" rIns="0" bIns="0" rtlCol="0" anchor="ctr"/>
          <a:lstStyle/>
          <a:p>
            <a:pPr indent="0" marL="0">
              <a:buNone/>
            </a:pPr>
            <a:r>
              <a:rPr lang="en-US" sz="1050" dirty="0">
                <a:solidFill>
                  <a:srgbClr val="4A4A4A"/>
                </a:solidFill>
              </a:rPr>
              <a:t>NASDAQ (ticker: CTSH)</a:t>
            </a:r>
            <a:endParaRPr lang="en-US" sz="1050" dirty="0"/>
          </a:p>
        </p:txBody>
      </p:sp>
      <p:sp>
        <p:nvSpPr>
          <p:cNvPr id="15" name="Shape 13"/>
          <p:cNvSpPr/>
          <p:nvPr/>
        </p:nvSpPr>
        <p:spPr>
          <a:xfrm>
            <a:off x="365760" y="2121408"/>
            <a:ext cx="4160520" cy="594360"/>
          </a:xfrm>
          <a:prstGeom prst="rect">
            <a:avLst/>
          </a:prstGeom>
          <a:solidFill>
            <a:srgbClr val="FFFFFF"/>
          </a:solidFill>
          <a:ln w="12700">
            <a:solidFill>
              <a:srgbClr val="5B9BD5"/>
            </a:solidFill>
            <a:prstDash val="solid"/>
          </a:ln>
        </p:spPr>
      </p:sp>
      <p:sp>
        <p:nvSpPr>
          <p:cNvPr id="16" name="Text 14"/>
          <p:cNvSpPr/>
          <p:nvPr/>
        </p:nvSpPr>
        <p:spPr>
          <a:xfrm>
            <a:off x="475488" y="2157984"/>
            <a:ext cx="3931920" cy="256032"/>
          </a:xfrm>
          <a:prstGeom prst="rect">
            <a:avLst/>
          </a:prstGeom>
          <a:noFill/>
          <a:ln/>
        </p:spPr>
        <p:txBody>
          <a:bodyPr wrap="square" lIns="0" tIns="0" rIns="0" bIns="0" rtlCol="0" anchor="ctr"/>
          <a:lstStyle/>
          <a:p>
            <a:pPr indent="0" marL="0">
              <a:buNone/>
            </a:pPr>
            <a:r>
              <a:rPr lang="en-US" sz="1000" b="1" dirty="0">
                <a:solidFill>
                  <a:srgbClr val="1A3A5C"/>
                </a:solidFill>
              </a:rPr>
              <a:t>Workforce:</a:t>
            </a:r>
            <a:endParaRPr lang="en-US" sz="1000" dirty="0"/>
          </a:p>
        </p:txBody>
      </p:sp>
      <p:sp>
        <p:nvSpPr>
          <p:cNvPr id="17" name="Text 15"/>
          <p:cNvSpPr/>
          <p:nvPr/>
        </p:nvSpPr>
        <p:spPr>
          <a:xfrm>
            <a:off x="475488" y="2414016"/>
            <a:ext cx="3931920" cy="237744"/>
          </a:xfrm>
          <a:prstGeom prst="rect">
            <a:avLst/>
          </a:prstGeom>
          <a:noFill/>
          <a:ln/>
        </p:spPr>
        <p:txBody>
          <a:bodyPr wrap="square" lIns="0" tIns="0" rIns="0" bIns="0" rtlCol="0" anchor="ctr"/>
          <a:lstStyle/>
          <a:p>
            <a:pPr indent="0" marL="0">
              <a:buNone/>
            </a:pPr>
            <a:r>
              <a:rPr lang="en-US" sz="1050" dirty="0">
                <a:solidFill>
                  <a:srgbClr val="4A4A4A"/>
                </a:solidFill>
              </a:rPr>
              <a:t>300,000+ professionals globally</a:t>
            </a:r>
            <a:endParaRPr lang="en-US" sz="1050" dirty="0"/>
          </a:p>
        </p:txBody>
      </p:sp>
      <p:sp>
        <p:nvSpPr>
          <p:cNvPr id="18" name="Shape 16"/>
          <p:cNvSpPr/>
          <p:nvPr/>
        </p:nvSpPr>
        <p:spPr>
          <a:xfrm>
            <a:off x="4773168" y="2121408"/>
            <a:ext cx="4160520" cy="594360"/>
          </a:xfrm>
          <a:prstGeom prst="rect">
            <a:avLst/>
          </a:prstGeom>
          <a:solidFill>
            <a:srgbClr val="FFFFFF"/>
          </a:solidFill>
          <a:ln w="12700">
            <a:solidFill>
              <a:srgbClr val="5B9BD5"/>
            </a:solidFill>
            <a:prstDash val="solid"/>
          </a:ln>
        </p:spPr>
      </p:sp>
      <p:sp>
        <p:nvSpPr>
          <p:cNvPr id="19" name="Text 17"/>
          <p:cNvSpPr/>
          <p:nvPr/>
        </p:nvSpPr>
        <p:spPr>
          <a:xfrm>
            <a:off x="4882896" y="2157984"/>
            <a:ext cx="3931920" cy="256032"/>
          </a:xfrm>
          <a:prstGeom prst="rect">
            <a:avLst/>
          </a:prstGeom>
          <a:noFill/>
          <a:ln/>
        </p:spPr>
        <p:txBody>
          <a:bodyPr wrap="square" lIns="0" tIns="0" rIns="0" bIns="0" rtlCol="0" anchor="ctr"/>
          <a:lstStyle/>
          <a:p>
            <a:pPr indent="0" marL="0">
              <a:buNone/>
            </a:pPr>
            <a:r>
              <a:rPr lang="en-US" sz="1000" b="1" dirty="0">
                <a:solidFill>
                  <a:srgbClr val="1A3A5C"/>
                </a:solidFill>
              </a:rPr>
              <a:t>Sectors served:</a:t>
            </a:r>
            <a:endParaRPr lang="en-US" sz="1000" dirty="0"/>
          </a:p>
        </p:txBody>
      </p:sp>
      <p:sp>
        <p:nvSpPr>
          <p:cNvPr id="20" name="Text 18"/>
          <p:cNvSpPr/>
          <p:nvPr/>
        </p:nvSpPr>
        <p:spPr>
          <a:xfrm>
            <a:off x="4882896" y="2414016"/>
            <a:ext cx="3931920" cy="237744"/>
          </a:xfrm>
          <a:prstGeom prst="rect">
            <a:avLst/>
          </a:prstGeom>
          <a:noFill/>
          <a:ln/>
        </p:spPr>
        <p:txBody>
          <a:bodyPr wrap="square" lIns="0" tIns="0" rIns="0" bIns="0" rtlCol="0" anchor="ctr"/>
          <a:lstStyle/>
          <a:p>
            <a:pPr indent="0" marL="0">
              <a:buNone/>
            </a:pPr>
            <a:r>
              <a:rPr lang="en-US" sz="1050" dirty="0">
                <a:solidFill>
                  <a:srgbClr val="4A4A4A"/>
                </a:solidFill>
              </a:rPr>
              <a:t>Banking, Healthcare, Retail, Technology, Manufacturing</a:t>
            </a:r>
            <a:endParaRPr lang="en-US" sz="1050" dirty="0"/>
          </a:p>
        </p:txBody>
      </p:sp>
      <p:sp>
        <p:nvSpPr>
          <p:cNvPr id="21" name="Shape 19"/>
          <p:cNvSpPr/>
          <p:nvPr/>
        </p:nvSpPr>
        <p:spPr>
          <a:xfrm>
            <a:off x="365760" y="2871216"/>
            <a:ext cx="4160520" cy="594360"/>
          </a:xfrm>
          <a:prstGeom prst="rect">
            <a:avLst/>
          </a:prstGeom>
          <a:solidFill>
            <a:srgbClr val="D6E4F0"/>
          </a:solidFill>
          <a:ln w="12700">
            <a:solidFill>
              <a:srgbClr val="5B9BD5"/>
            </a:solidFill>
            <a:prstDash val="solid"/>
          </a:ln>
        </p:spPr>
      </p:sp>
      <p:sp>
        <p:nvSpPr>
          <p:cNvPr id="22" name="Text 20"/>
          <p:cNvSpPr/>
          <p:nvPr/>
        </p:nvSpPr>
        <p:spPr>
          <a:xfrm>
            <a:off x="475488" y="2907792"/>
            <a:ext cx="3931920" cy="256032"/>
          </a:xfrm>
          <a:prstGeom prst="rect">
            <a:avLst/>
          </a:prstGeom>
          <a:noFill/>
          <a:ln/>
        </p:spPr>
        <p:txBody>
          <a:bodyPr wrap="square" lIns="0" tIns="0" rIns="0" bIns="0" rtlCol="0" anchor="ctr"/>
          <a:lstStyle/>
          <a:p>
            <a:pPr indent="0" marL="0">
              <a:buNone/>
            </a:pPr>
            <a:r>
              <a:rPr lang="en-US" sz="1000" b="1" dirty="0">
                <a:solidFill>
                  <a:srgbClr val="1A3A5C"/>
                </a:solidFill>
              </a:rPr>
              <a:t>Service Line:</a:t>
            </a:r>
            <a:endParaRPr lang="en-US" sz="1000" dirty="0"/>
          </a:p>
        </p:txBody>
      </p:sp>
      <p:sp>
        <p:nvSpPr>
          <p:cNvPr id="23" name="Text 21"/>
          <p:cNvSpPr/>
          <p:nvPr/>
        </p:nvSpPr>
        <p:spPr>
          <a:xfrm>
            <a:off x="475488" y="3163824"/>
            <a:ext cx="3931920" cy="237744"/>
          </a:xfrm>
          <a:prstGeom prst="rect">
            <a:avLst/>
          </a:prstGeom>
          <a:noFill/>
          <a:ln/>
        </p:spPr>
        <p:txBody>
          <a:bodyPr wrap="square" lIns="0" tIns="0" rIns="0" bIns="0" rtlCol="0" anchor="ctr"/>
          <a:lstStyle/>
          <a:p>
            <a:pPr indent="0" marL="0">
              <a:buNone/>
            </a:pPr>
            <a:r>
              <a:rPr lang="en-US" sz="1050" dirty="0">
                <a:solidFill>
                  <a:srgbClr val="4A4A4A"/>
                </a:solidFill>
              </a:rPr>
              <a:t>Quality Engineering &amp; Assurance (QEA)</a:t>
            </a:r>
            <a:endParaRPr lang="en-US" sz="1050" dirty="0"/>
          </a:p>
        </p:txBody>
      </p:sp>
      <p:sp>
        <p:nvSpPr>
          <p:cNvPr id="24" name="Shape 22"/>
          <p:cNvSpPr/>
          <p:nvPr/>
        </p:nvSpPr>
        <p:spPr>
          <a:xfrm>
            <a:off x="4773168" y="2871216"/>
            <a:ext cx="4160520" cy="594360"/>
          </a:xfrm>
          <a:prstGeom prst="rect">
            <a:avLst/>
          </a:prstGeom>
          <a:solidFill>
            <a:srgbClr val="D6E4F0"/>
          </a:solidFill>
          <a:ln w="12700">
            <a:solidFill>
              <a:srgbClr val="5B9BD5"/>
            </a:solidFill>
            <a:prstDash val="solid"/>
          </a:ln>
        </p:spPr>
      </p:sp>
      <p:sp>
        <p:nvSpPr>
          <p:cNvPr id="25" name="Text 23"/>
          <p:cNvSpPr/>
          <p:nvPr/>
        </p:nvSpPr>
        <p:spPr>
          <a:xfrm>
            <a:off x="4882896" y="2907792"/>
            <a:ext cx="3931920" cy="256032"/>
          </a:xfrm>
          <a:prstGeom prst="rect">
            <a:avLst/>
          </a:prstGeom>
          <a:noFill/>
          <a:ln/>
        </p:spPr>
        <p:txBody>
          <a:bodyPr wrap="square" lIns="0" tIns="0" rIns="0" bIns="0" rtlCol="0" anchor="ctr"/>
          <a:lstStyle/>
          <a:p>
            <a:pPr indent="0" marL="0">
              <a:buNone/>
            </a:pPr>
            <a:r>
              <a:rPr lang="en-US" sz="1000" b="1" dirty="0">
                <a:solidFill>
                  <a:srgbClr val="1A3A5C"/>
                </a:solidFill>
              </a:rPr>
              <a:t>Internship Prog:</a:t>
            </a:r>
            <a:endParaRPr lang="en-US" sz="1000" dirty="0"/>
          </a:p>
        </p:txBody>
      </p:sp>
      <p:sp>
        <p:nvSpPr>
          <p:cNvPr id="26" name="Text 24"/>
          <p:cNvSpPr/>
          <p:nvPr/>
        </p:nvSpPr>
        <p:spPr>
          <a:xfrm>
            <a:off x="4882896" y="3163824"/>
            <a:ext cx="3931920" cy="237744"/>
          </a:xfrm>
          <a:prstGeom prst="rect">
            <a:avLst/>
          </a:prstGeom>
          <a:noFill/>
          <a:ln/>
        </p:spPr>
        <p:txBody>
          <a:bodyPr wrap="square" lIns="0" tIns="0" rIns="0" bIns="0" rtlCol="0" anchor="ctr"/>
          <a:lstStyle/>
          <a:p>
            <a:pPr indent="0" marL="0">
              <a:buNone/>
            </a:pPr>
            <a:r>
              <a:rPr lang="en-US" sz="1050" dirty="0">
                <a:solidFill>
                  <a:srgbClr val="4A4A4A"/>
                </a:solidFill>
              </a:rPr>
              <a:t>Generation Cognizant (GenC) – PAT Track</a:t>
            </a:r>
            <a:endParaRPr lang="en-US" sz="1050" dirty="0"/>
          </a:p>
        </p:txBody>
      </p:sp>
      <p:sp>
        <p:nvSpPr>
          <p:cNvPr id="27" name="Shape 25"/>
          <p:cNvSpPr/>
          <p:nvPr/>
        </p:nvSpPr>
        <p:spPr>
          <a:xfrm>
            <a:off x="365760" y="3621024"/>
            <a:ext cx="4160520" cy="594360"/>
          </a:xfrm>
          <a:prstGeom prst="rect">
            <a:avLst/>
          </a:prstGeom>
          <a:solidFill>
            <a:srgbClr val="FFFFFF"/>
          </a:solidFill>
          <a:ln w="12700">
            <a:solidFill>
              <a:srgbClr val="5B9BD5"/>
            </a:solidFill>
            <a:prstDash val="solid"/>
          </a:ln>
        </p:spPr>
      </p:sp>
      <p:sp>
        <p:nvSpPr>
          <p:cNvPr id="28" name="Text 26"/>
          <p:cNvSpPr/>
          <p:nvPr/>
        </p:nvSpPr>
        <p:spPr>
          <a:xfrm>
            <a:off x="475488" y="3657600"/>
            <a:ext cx="3931920" cy="256032"/>
          </a:xfrm>
          <a:prstGeom prst="rect">
            <a:avLst/>
          </a:prstGeom>
          <a:noFill/>
          <a:ln/>
        </p:spPr>
        <p:txBody>
          <a:bodyPr wrap="square" lIns="0" tIns="0" rIns="0" bIns="0" rtlCol="0" anchor="ctr"/>
          <a:lstStyle/>
          <a:p>
            <a:pPr indent="0" marL="0">
              <a:buNone/>
            </a:pPr>
            <a:r>
              <a:rPr lang="en-US" sz="1000" b="1" dirty="0">
                <a:solidFill>
                  <a:srgbClr val="1A3A5C"/>
                </a:solidFill>
              </a:rPr>
              <a:t>Duration:</a:t>
            </a:r>
            <a:endParaRPr lang="en-US" sz="1000" dirty="0"/>
          </a:p>
        </p:txBody>
      </p:sp>
      <p:sp>
        <p:nvSpPr>
          <p:cNvPr id="29" name="Text 27"/>
          <p:cNvSpPr/>
          <p:nvPr/>
        </p:nvSpPr>
        <p:spPr>
          <a:xfrm>
            <a:off x="475488" y="3913632"/>
            <a:ext cx="3931920" cy="237744"/>
          </a:xfrm>
          <a:prstGeom prst="rect">
            <a:avLst/>
          </a:prstGeom>
          <a:noFill/>
          <a:ln/>
        </p:spPr>
        <p:txBody>
          <a:bodyPr wrap="square" lIns="0" tIns="0" rIns="0" bIns="0" rtlCol="0" anchor="ctr"/>
          <a:lstStyle/>
          <a:p>
            <a:pPr indent="0" marL="0">
              <a:buNone/>
            </a:pPr>
            <a:r>
              <a:rPr lang="en-US" sz="1050" dirty="0">
                <a:solidFill>
                  <a:srgbClr val="4A4A4A"/>
                </a:solidFill>
              </a:rPr>
              <a:t>65-day structured learning journey</a:t>
            </a:r>
            <a:endParaRPr lang="en-US" sz="1050" dirty="0"/>
          </a:p>
        </p:txBody>
      </p:sp>
      <p:sp>
        <p:nvSpPr>
          <p:cNvPr id="30" name="Shape 28"/>
          <p:cNvSpPr/>
          <p:nvPr/>
        </p:nvSpPr>
        <p:spPr>
          <a:xfrm>
            <a:off x="4773168" y="3621024"/>
            <a:ext cx="4160520" cy="594360"/>
          </a:xfrm>
          <a:prstGeom prst="rect">
            <a:avLst/>
          </a:prstGeom>
          <a:solidFill>
            <a:srgbClr val="FFFFFF"/>
          </a:solidFill>
          <a:ln w="12700">
            <a:solidFill>
              <a:srgbClr val="5B9BD5"/>
            </a:solidFill>
            <a:prstDash val="solid"/>
          </a:ln>
        </p:spPr>
      </p:sp>
      <p:sp>
        <p:nvSpPr>
          <p:cNvPr id="31" name="Text 29"/>
          <p:cNvSpPr/>
          <p:nvPr/>
        </p:nvSpPr>
        <p:spPr>
          <a:xfrm>
            <a:off x="4882896" y="3657600"/>
            <a:ext cx="3931920" cy="256032"/>
          </a:xfrm>
          <a:prstGeom prst="rect">
            <a:avLst/>
          </a:prstGeom>
          <a:noFill/>
          <a:ln/>
        </p:spPr>
        <p:txBody>
          <a:bodyPr wrap="square" lIns="0" tIns="0" rIns="0" bIns="0" rtlCol="0" anchor="ctr"/>
          <a:lstStyle/>
          <a:p>
            <a:pPr indent="0" marL="0">
              <a:buNone/>
            </a:pPr>
            <a:r>
              <a:rPr lang="en-US" sz="1000" b="1" dirty="0">
                <a:solidFill>
                  <a:srgbClr val="1A3A5C"/>
                </a:solidFill>
              </a:rPr>
              <a:t>Stipend:</a:t>
            </a:r>
            <a:endParaRPr lang="en-US" sz="1000" dirty="0"/>
          </a:p>
        </p:txBody>
      </p:sp>
      <p:sp>
        <p:nvSpPr>
          <p:cNvPr id="32" name="Text 30"/>
          <p:cNvSpPr/>
          <p:nvPr/>
        </p:nvSpPr>
        <p:spPr>
          <a:xfrm>
            <a:off x="4882896" y="3913632"/>
            <a:ext cx="3931920" cy="237744"/>
          </a:xfrm>
          <a:prstGeom prst="rect">
            <a:avLst/>
          </a:prstGeom>
          <a:noFill/>
          <a:ln/>
        </p:spPr>
        <p:txBody>
          <a:bodyPr wrap="square" lIns="0" tIns="0" rIns="0" bIns="0" rtlCol="0" anchor="ctr"/>
          <a:lstStyle/>
          <a:p>
            <a:pPr indent="0" marL="0">
              <a:buNone/>
            </a:pPr>
            <a:r>
              <a:rPr lang="en-US" sz="1050" dirty="0">
                <a:solidFill>
                  <a:srgbClr val="4A4A4A"/>
                </a:solidFill>
              </a:rPr>
              <a:t>INR 12,000 / month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5C"/>
          </a:solidFill>
          <a:ln w="12700">
            <a:solidFill>
              <a:srgbClr val="1A3A5C"/>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200" b="1" dirty="0">
                <a:solidFill>
                  <a:srgbClr val="FFFFFF"/>
                </a:solidFill>
              </a:rPr>
              <a:t>III.  Working Domain</a:t>
            </a:r>
            <a:endParaRPr lang="en-US" sz="2200" dirty="0"/>
          </a:p>
        </p:txBody>
      </p:sp>
      <p:sp>
        <p:nvSpPr>
          <p:cNvPr id="4" name="Shape 2"/>
          <p:cNvSpPr/>
          <p:nvPr/>
        </p:nvSpPr>
        <p:spPr>
          <a:xfrm>
            <a:off x="0" y="658368"/>
            <a:ext cx="9144000" cy="54864"/>
          </a:xfrm>
          <a:prstGeom prst="rect">
            <a:avLst/>
          </a:prstGeom>
          <a:solidFill>
            <a:srgbClr val="C8A951"/>
          </a:solidFill>
          <a:ln w="12700">
            <a:solidFill>
              <a:srgbClr val="C8A951"/>
            </a:solidFill>
            <a:prstDash val="solid"/>
          </a:ln>
        </p:spPr>
      </p:sp>
      <p:sp>
        <p:nvSpPr>
          <p:cNvPr id="5" name="Shape 3"/>
          <p:cNvSpPr/>
          <p:nvPr/>
        </p:nvSpPr>
        <p:spPr>
          <a:xfrm>
            <a:off x="0" y="4901184"/>
            <a:ext cx="9144000" cy="242316"/>
          </a:xfrm>
          <a:prstGeom prst="rect">
            <a:avLst/>
          </a:prstGeom>
          <a:solidFill>
            <a:srgbClr val="1A3A5C"/>
          </a:solidFill>
          <a:ln w="12700">
            <a:solidFill>
              <a:srgbClr val="1A3A5C"/>
            </a:solidFill>
            <a:prstDash val="solid"/>
          </a:ln>
        </p:spPr>
      </p:sp>
      <p:sp>
        <p:nvSpPr>
          <p:cNvPr id="6" name="Text 4"/>
          <p:cNvSpPr/>
          <p:nvPr/>
        </p:nvSpPr>
        <p:spPr>
          <a:xfrm>
            <a:off x="274320" y="4901184"/>
            <a:ext cx="8595360" cy="242316"/>
          </a:xfrm>
          <a:prstGeom prst="rect">
            <a:avLst/>
          </a:prstGeom>
          <a:noFill/>
          <a:ln/>
        </p:spPr>
        <p:txBody>
          <a:bodyPr wrap="square" lIns="0" tIns="0" rIns="0" bIns="0" rtlCol="0" anchor="ctr"/>
          <a:lstStyle/>
          <a:p>
            <a:pPr algn="ctr" indent="0" marL="0">
              <a:buNone/>
            </a:pPr>
            <a:r>
              <a:rPr lang="en-US" sz="850" dirty="0">
                <a:solidFill>
                  <a:srgbClr val="D6E4F0"/>
                </a:solidFill>
              </a:rPr>
              <a:t>Department of Computer Technology  |  YCCE, Nagpur  |  Session 2025–26</a:t>
            </a:r>
            <a:endParaRPr lang="en-US" sz="850" dirty="0"/>
          </a:p>
        </p:txBody>
      </p:sp>
      <p:sp>
        <p:nvSpPr>
          <p:cNvPr id="7" name="Shape 5"/>
          <p:cNvSpPr/>
          <p:nvPr/>
        </p:nvSpPr>
        <p:spPr>
          <a:xfrm>
            <a:off x="365760" y="822960"/>
            <a:ext cx="8412480" cy="365760"/>
          </a:xfrm>
          <a:prstGeom prst="rect">
            <a:avLst/>
          </a:prstGeom>
          <a:solidFill>
            <a:srgbClr val="1A3A5C"/>
          </a:solidFill>
          <a:ln w="12700">
            <a:solidFill>
              <a:srgbClr val="1A3A5C"/>
            </a:solidFill>
            <a:prstDash val="solid"/>
          </a:ln>
        </p:spPr>
      </p:sp>
      <p:sp>
        <p:nvSpPr>
          <p:cNvPr id="8" name="Text 6"/>
          <p:cNvSpPr/>
          <p:nvPr/>
        </p:nvSpPr>
        <p:spPr>
          <a:xfrm>
            <a:off x="502920" y="822960"/>
            <a:ext cx="8229600" cy="365760"/>
          </a:xfrm>
          <a:prstGeom prst="rect">
            <a:avLst/>
          </a:prstGeom>
          <a:noFill/>
          <a:ln/>
        </p:spPr>
        <p:txBody>
          <a:bodyPr wrap="square" lIns="0" tIns="0" rIns="0" bIns="0" rtlCol="0" anchor="ctr"/>
          <a:lstStyle/>
          <a:p>
            <a:pPr indent="0" marL="0">
              <a:buNone/>
            </a:pPr>
            <a:r>
              <a:rPr lang="en-US" sz="1200" b="1" dirty="0">
                <a:solidFill>
                  <a:srgbClr val="FFFFFF"/>
                </a:solidFill>
              </a:rPr>
              <a:t>Stage 1 – Core Java with SQL  (Day 1 – 21)</a:t>
            </a:r>
            <a:endParaRPr lang="en-US" sz="1200" dirty="0"/>
          </a:p>
        </p:txBody>
      </p:sp>
      <p:sp>
        <p:nvSpPr>
          <p:cNvPr id="9" name="Shape 7"/>
          <p:cNvSpPr/>
          <p:nvPr/>
        </p:nvSpPr>
        <p:spPr>
          <a:xfrm>
            <a:off x="365760" y="1188720"/>
            <a:ext cx="8412480" cy="1353312"/>
          </a:xfrm>
          <a:prstGeom prst="rect">
            <a:avLst/>
          </a:prstGeom>
          <a:solidFill>
            <a:srgbClr val="D6E4F0"/>
          </a:solidFill>
          <a:ln w="12700">
            <a:solidFill>
              <a:srgbClr val="5B9BD5"/>
            </a:solidFill>
            <a:prstDash val="solid"/>
          </a:ln>
        </p:spPr>
      </p:sp>
      <p:sp>
        <p:nvSpPr>
          <p:cNvPr id="10" name="Text 8"/>
          <p:cNvSpPr/>
          <p:nvPr/>
        </p:nvSpPr>
        <p:spPr>
          <a:xfrm>
            <a:off x="548640" y="1243584"/>
            <a:ext cx="8138160" cy="292608"/>
          </a:xfrm>
          <a:prstGeom prst="rect">
            <a:avLst/>
          </a:prstGeom>
          <a:noFill/>
          <a:ln/>
        </p:spPr>
        <p:txBody>
          <a:bodyPr wrap="square" lIns="0" tIns="0" rIns="0" bIns="0" rtlCol="0" anchor="ctr"/>
          <a:lstStyle/>
          <a:p>
            <a:pPr marL="342900" indent="-342900">
              <a:buSzPct val="100000"/>
              <a:buChar char="•"/>
            </a:pPr>
            <a:r>
              <a:rPr lang="en-US" sz="1150" dirty="0">
                <a:solidFill>
                  <a:srgbClr val="4A4A4A"/>
                </a:solidFill>
              </a:rPr>
              <a:t>Core Java: OOP, Collections, Exception Handling, File Handling</a:t>
            </a:r>
            <a:endParaRPr lang="en-US" sz="1150" dirty="0"/>
          </a:p>
        </p:txBody>
      </p:sp>
      <p:sp>
        <p:nvSpPr>
          <p:cNvPr id="11" name="Text 9"/>
          <p:cNvSpPr/>
          <p:nvPr/>
        </p:nvSpPr>
        <p:spPr>
          <a:xfrm>
            <a:off x="548640" y="1554480"/>
            <a:ext cx="8138160" cy="292608"/>
          </a:xfrm>
          <a:prstGeom prst="rect">
            <a:avLst/>
          </a:prstGeom>
          <a:noFill/>
          <a:ln/>
        </p:spPr>
        <p:txBody>
          <a:bodyPr wrap="square" lIns="0" tIns="0" rIns="0" bIns="0" rtlCol="0" anchor="ctr"/>
          <a:lstStyle/>
          <a:p>
            <a:pPr marL="342900" indent="-342900">
              <a:buSzPct val="100000"/>
              <a:buChar char="•"/>
            </a:pPr>
            <a:r>
              <a:rPr lang="en-US" sz="1150" dirty="0">
                <a:solidFill>
                  <a:srgbClr val="4A4A4A"/>
                </a:solidFill>
              </a:rPr>
              <a:t>Java 8: Lambda Expressions, Stream API</a:t>
            </a:r>
            <a:endParaRPr lang="en-US" sz="1150" dirty="0"/>
          </a:p>
        </p:txBody>
      </p:sp>
      <p:sp>
        <p:nvSpPr>
          <p:cNvPr id="12" name="Text 10"/>
          <p:cNvSpPr/>
          <p:nvPr/>
        </p:nvSpPr>
        <p:spPr>
          <a:xfrm>
            <a:off x="548640" y="1865376"/>
            <a:ext cx="8138160" cy="292608"/>
          </a:xfrm>
          <a:prstGeom prst="rect">
            <a:avLst/>
          </a:prstGeom>
          <a:noFill/>
          <a:ln/>
        </p:spPr>
        <p:txBody>
          <a:bodyPr wrap="square" lIns="0" tIns="0" rIns="0" bIns="0" rtlCol="0" anchor="ctr"/>
          <a:lstStyle/>
          <a:p>
            <a:pPr marL="342900" indent="-342900">
              <a:buSzPct val="100000"/>
              <a:buChar char="•"/>
            </a:pPr>
            <a:r>
              <a:rPr lang="en-US" sz="1150" dirty="0">
                <a:solidFill>
                  <a:srgbClr val="4A4A4A"/>
                </a:solidFill>
              </a:rPr>
              <a:t>SQL: DDL, DML, Joins, Subqueries, Aggregate Functions</a:t>
            </a:r>
            <a:endParaRPr lang="en-US" sz="1150" dirty="0"/>
          </a:p>
        </p:txBody>
      </p:sp>
      <p:sp>
        <p:nvSpPr>
          <p:cNvPr id="13" name="Text 11"/>
          <p:cNvSpPr/>
          <p:nvPr/>
        </p:nvSpPr>
        <p:spPr>
          <a:xfrm>
            <a:off x="548640" y="2176272"/>
            <a:ext cx="8138160" cy="292608"/>
          </a:xfrm>
          <a:prstGeom prst="rect">
            <a:avLst/>
          </a:prstGeom>
          <a:noFill/>
          <a:ln/>
        </p:spPr>
        <p:txBody>
          <a:bodyPr wrap="square" lIns="0" tIns="0" rIns="0" bIns="0" rtlCol="0" anchor="ctr"/>
          <a:lstStyle/>
          <a:p>
            <a:pPr marL="342900" indent="-342900">
              <a:buSzPct val="100000"/>
              <a:buChar char="•"/>
            </a:pPr>
            <a:r>
              <a:rPr lang="en-US" sz="1150" dirty="0">
                <a:solidFill>
                  <a:srgbClr val="4A4A4A"/>
                </a:solidFill>
              </a:rPr>
              <a:t>JDBC: Java Database Connectivity &amp; CRUD operations</a:t>
            </a:r>
            <a:endParaRPr lang="en-US" sz="1150" dirty="0"/>
          </a:p>
        </p:txBody>
      </p:sp>
      <p:sp>
        <p:nvSpPr>
          <p:cNvPr id="14" name="Shape 12"/>
          <p:cNvSpPr/>
          <p:nvPr/>
        </p:nvSpPr>
        <p:spPr>
          <a:xfrm>
            <a:off x="365760" y="2834640"/>
            <a:ext cx="8412480" cy="365760"/>
          </a:xfrm>
          <a:prstGeom prst="rect">
            <a:avLst/>
          </a:prstGeom>
          <a:solidFill>
            <a:srgbClr val="2E6DA4"/>
          </a:solidFill>
          <a:ln w="12700">
            <a:solidFill>
              <a:srgbClr val="2E6DA4"/>
            </a:solidFill>
            <a:prstDash val="solid"/>
          </a:ln>
        </p:spPr>
      </p:sp>
      <p:sp>
        <p:nvSpPr>
          <p:cNvPr id="15" name="Text 13"/>
          <p:cNvSpPr/>
          <p:nvPr/>
        </p:nvSpPr>
        <p:spPr>
          <a:xfrm>
            <a:off x="502920" y="2834640"/>
            <a:ext cx="8229600" cy="365760"/>
          </a:xfrm>
          <a:prstGeom prst="rect">
            <a:avLst/>
          </a:prstGeom>
          <a:noFill/>
          <a:ln/>
        </p:spPr>
        <p:txBody>
          <a:bodyPr wrap="square" lIns="0" tIns="0" rIns="0" bIns="0" rtlCol="0" anchor="ctr"/>
          <a:lstStyle/>
          <a:p>
            <a:pPr indent="0" marL="0">
              <a:buNone/>
            </a:pPr>
            <a:r>
              <a:rPr lang="en-US" sz="1200" b="1" dirty="0">
                <a:solidFill>
                  <a:srgbClr val="FFFFFF"/>
                </a:solidFill>
              </a:rPr>
              <a:t>Stage 2 – Selenium Automation  (Day 22 – 65)</a:t>
            </a:r>
            <a:endParaRPr lang="en-US" sz="1200" dirty="0"/>
          </a:p>
        </p:txBody>
      </p:sp>
      <p:sp>
        <p:nvSpPr>
          <p:cNvPr id="16" name="Shape 14"/>
          <p:cNvSpPr/>
          <p:nvPr/>
        </p:nvSpPr>
        <p:spPr>
          <a:xfrm>
            <a:off x="365760" y="3200400"/>
            <a:ext cx="8412480" cy="1664208"/>
          </a:xfrm>
          <a:prstGeom prst="rect">
            <a:avLst/>
          </a:prstGeom>
          <a:solidFill>
            <a:srgbClr val="FFFFFF"/>
          </a:solidFill>
          <a:ln w="12700">
            <a:solidFill>
              <a:srgbClr val="5B9BD5"/>
            </a:solidFill>
            <a:prstDash val="solid"/>
          </a:ln>
        </p:spPr>
      </p:sp>
      <p:sp>
        <p:nvSpPr>
          <p:cNvPr id="17" name="Text 15"/>
          <p:cNvSpPr/>
          <p:nvPr/>
        </p:nvSpPr>
        <p:spPr>
          <a:xfrm>
            <a:off x="548640" y="3255264"/>
            <a:ext cx="8138160" cy="292608"/>
          </a:xfrm>
          <a:prstGeom prst="rect">
            <a:avLst/>
          </a:prstGeom>
          <a:noFill/>
          <a:ln/>
        </p:spPr>
        <p:txBody>
          <a:bodyPr wrap="square" lIns="0" tIns="0" rIns="0" bIns="0" rtlCol="0" anchor="ctr"/>
          <a:lstStyle/>
          <a:p>
            <a:pPr marL="342900" indent="-342900">
              <a:buSzPct val="100000"/>
              <a:buChar char="•"/>
            </a:pPr>
            <a:r>
              <a:rPr lang="en-US" sz="1150" dirty="0">
                <a:solidFill>
                  <a:srgbClr val="4A4A4A"/>
                </a:solidFill>
              </a:rPr>
              <a:t>Selenium WebDriver: locators (XPath, CSS, ID), Actions, JS Executor</a:t>
            </a:r>
            <a:endParaRPr lang="en-US" sz="1150" dirty="0"/>
          </a:p>
        </p:txBody>
      </p:sp>
      <p:sp>
        <p:nvSpPr>
          <p:cNvPr id="18" name="Text 16"/>
          <p:cNvSpPr/>
          <p:nvPr/>
        </p:nvSpPr>
        <p:spPr>
          <a:xfrm>
            <a:off x="548640" y="3566160"/>
            <a:ext cx="8138160" cy="292608"/>
          </a:xfrm>
          <a:prstGeom prst="rect">
            <a:avLst/>
          </a:prstGeom>
          <a:noFill/>
          <a:ln/>
        </p:spPr>
        <p:txBody>
          <a:bodyPr wrap="square" lIns="0" tIns="0" rIns="0" bIns="0" rtlCol="0" anchor="ctr"/>
          <a:lstStyle/>
          <a:p>
            <a:pPr marL="342900" indent="-342900">
              <a:buSzPct val="100000"/>
              <a:buChar char="•"/>
            </a:pPr>
            <a:r>
              <a:rPr lang="en-US" sz="1150" dirty="0">
                <a:solidFill>
                  <a:srgbClr val="4A4A4A"/>
                </a:solidFill>
              </a:rPr>
              <a:t>Page Object Model (POM), Apache POI (data-driven testing)</a:t>
            </a:r>
            <a:endParaRPr lang="en-US" sz="1150" dirty="0"/>
          </a:p>
        </p:txBody>
      </p:sp>
      <p:sp>
        <p:nvSpPr>
          <p:cNvPr id="19" name="Text 17"/>
          <p:cNvSpPr/>
          <p:nvPr/>
        </p:nvSpPr>
        <p:spPr>
          <a:xfrm>
            <a:off x="548640" y="3877056"/>
            <a:ext cx="8138160" cy="292608"/>
          </a:xfrm>
          <a:prstGeom prst="rect">
            <a:avLst/>
          </a:prstGeom>
          <a:noFill/>
          <a:ln/>
        </p:spPr>
        <p:txBody>
          <a:bodyPr wrap="square" lIns="0" tIns="0" rIns="0" bIns="0" rtlCol="0" anchor="ctr"/>
          <a:lstStyle/>
          <a:p>
            <a:pPr marL="342900" indent="-342900">
              <a:buSzPct val="100000"/>
              <a:buChar char="•"/>
            </a:pPr>
            <a:r>
              <a:rPr lang="en-US" sz="1150" dirty="0">
                <a:solidFill>
                  <a:srgbClr val="4A4A4A"/>
                </a:solidFill>
              </a:rPr>
              <a:t>BDD Cucumber (Gherkin), TestNG, ExtentReports</a:t>
            </a:r>
            <a:endParaRPr lang="en-US" sz="1150" dirty="0"/>
          </a:p>
        </p:txBody>
      </p:sp>
      <p:sp>
        <p:nvSpPr>
          <p:cNvPr id="20" name="Text 18"/>
          <p:cNvSpPr/>
          <p:nvPr/>
        </p:nvSpPr>
        <p:spPr>
          <a:xfrm>
            <a:off x="548640" y="4187952"/>
            <a:ext cx="8138160" cy="292608"/>
          </a:xfrm>
          <a:prstGeom prst="rect">
            <a:avLst/>
          </a:prstGeom>
          <a:noFill/>
          <a:ln/>
        </p:spPr>
        <p:txBody>
          <a:bodyPr wrap="square" lIns="0" tIns="0" rIns="0" bIns="0" rtlCol="0" anchor="ctr"/>
          <a:lstStyle/>
          <a:p>
            <a:pPr marL="342900" indent="-342900">
              <a:buSzPct val="100000"/>
              <a:buChar char="•"/>
            </a:pPr>
            <a:r>
              <a:rPr lang="en-US" sz="1150" dirty="0">
                <a:solidFill>
                  <a:srgbClr val="4A4A4A"/>
                </a:solidFill>
              </a:rPr>
              <a:t>DevOps: Git, Maven, Jenkins, Selenium Grid  |  API: Postman, REST Assured</a:t>
            </a:r>
            <a:endParaRPr lang="en-US" sz="1150" dirty="0"/>
          </a:p>
        </p:txBody>
      </p:sp>
      <p:sp>
        <p:nvSpPr>
          <p:cNvPr id="21" name="Text 19"/>
          <p:cNvSpPr/>
          <p:nvPr/>
        </p:nvSpPr>
        <p:spPr>
          <a:xfrm>
            <a:off x="548640" y="4498848"/>
            <a:ext cx="8138160" cy="292608"/>
          </a:xfrm>
          <a:prstGeom prst="rect">
            <a:avLst/>
          </a:prstGeom>
          <a:noFill/>
          <a:ln/>
        </p:spPr>
        <p:txBody>
          <a:bodyPr wrap="square" lIns="0" tIns="0" rIns="0" bIns="0" rtlCol="0" anchor="ctr"/>
          <a:lstStyle/>
          <a:p>
            <a:pPr marL="342900" indent="-342900">
              <a:buSzPct val="100000"/>
              <a:buChar char="•"/>
            </a:pPr>
            <a:r>
              <a:rPr lang="en-US" sz="1150" dirty="0">
                <a:solidFill>
                  <a:srgbClr val="4A4A4A"/>
                </a:solidFill>
              </a:rPr>
              <a:t>GenAI Fundamentals, GitHub Copilot, Prompt Engineering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5C"/>
          </a:solidFill>
          <a:ln w="12700">
            <a:solidFill>
              <a:srgbClr val="1A3A5C"/>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200" b="1" dirty="0">
                <a:solidFill>
                  <a:srgbClr val="FFFFFF"/>
                </a:solidFill>
              </a:rPr>
              <a:t>IV.  Topic of Internship (Work)</a:t>
            </a:r>
            <a:endParaRPr lang="en-US" sz="2200" dirty="0"/>
          </a:p>
        </p:txBody>
      </p:sp>
      <p:sp>
        <p:nvSpPr>
          <p:cNvPr id="4" name="Shape 2"/>
          <p:cNvSpPr/>
          <p:nvPr/>
        </p:nvSpPr>
        <p:spPr>
          <a:xfrm>
            <a:off x="0" y="658368"/>
            <a:ext cx="9144000" cy="54864"/>
          </a:xfrm>
          <a:prstGeom prst="rect">
            <a:avLst/>
          </a:prstGeom>
          <a:solidFill>
            <a:srgbClr val="C8A951"/>
          </a:solidFill>
          <a:ln w="12700">
            <a:solidFill>
              <a:srgbClr val="C8A951"/>
            </a:solidFill>
            <a:prstDash val="solid"/>
          </a:ln>
        </p:spPr>
      </p:sp>
      <p:sp>
        <p:nvSpPr>
          <p:cNvPr id="5" name="Shape 3"/>
          <p:cNvSpPr/>
          <p:nvPr/>
        </p:nvSpPr>
        <p:spPr>
          <a:xfrm>
            <a:off x="0" y="4901184"/>
            <a:ext cx="9144000" cy="242316"/>
          </a:xfrm>
          <a:prstGeom prst="rect">
            <a:avLst/>
          </a:prstGeom>
          <a:solidFill>
            <a:srgbClr val="1A3A5C"/>
          </a:solidFill>
          <a:ln w="12700">
            <a:solidFill>
              <a:srgbClr val="1A3A5C"/>
            </a:solidFill>
            <a:prstDash val="solid"/>
          </a:ln>
        </p:spPr>
      </p:sp>
      <p:sp>
        <p:nvSpPr>
          <p:cNvPr id="6" name="Text 4"/>
          <p:cNvSpPr/>
          <p:nvPr/>
        </p:nvSpPr>
        <p:spPr>
          <a:xfrm>
            <a:off x="274320" y="4901184"/>
            <a:ext cx="8595360" cy="242316"/>
          </a:xfrm>
          <a:prstGeom prst="rect">
            <a:avLst/>
          </a:prstGeom>
          <a:noFill/>
          <a:ln/>
        </p:spPr>
        <p:txBody>
          <a:bodyPr wrap="square" lIns="0" tIns="0" rIns="0" bIns="0" rtlCol="0" anchor="ctr"/>
          <a:lstStyle/>
          <a:p>
            <a:pPr algn="ctr" indent="0" marL="0">
              <a:buNone/>
            </a:pPr>
            <a:r>
              <a:rPr lang="en-US" sz="850" dirty="0">
                <a:solidFill>
                  <a:srgbClr val="D6E4F0"/>
                </a:solidFill>
              </a:rPr>
              <a:t>Department of Computer Technology  |  YCCE, Nagpur  |  Session 2025–26</a:t>
            </a:r>
            <a:endParaRPr lang="en-US" sz="850" dirty="0"/>
          </a:p>
        </p:txBody>
      </p:sp>
      <p:sp>
        <p:nvSpPr>
          <p:cNvPr id="7" name="Text 5"/>
          <p:cNvSpPr/>
          <p:nvPr/>
        </p:nvSpPr>
        <p:spPr>
          <a:xfrm>
            <a:off x="365760" y="777240"/>
            <a:ext cx="8412480" cy="411480"/>
          </a:xfrm>
          <a:prstGeom prst="rect">
            <a:avLst/>
          </a:prstGeom>
          <a:noFill/>
          <a:ln/>
        </p:spPr>
        <p:txBody>
          <a:bodyPr wrap="square" lIns="0" tIns="0" rIns="0" bIns="0" rtlCol="0" anchor="ctr"/>
          <a:lstStyle/>
          <a:p>
            <a:pPr algn="l" indent="0" marL="0">
              <a:buNone/>
            </a:pPr>
            <a:r>
              <a:rPr lang="en-US" sz="1600" b="1" dirty="0">
                <a:solidFill>
                  <a:srgbClr val="1A3A5C"/>
                </a:solidFill>
              </a:rPr>
              <a:t>Automation of Coursera Web Application to Identify Courses</a:t>
            </a:r>
            <a:endParaRPr lang="en-US" sz="1600" dirty="0"/>
          </a:p>
        </p:txBody>
      </p:sp>
      <p:sp>
        <p:nvSpPr>
          <p:cNvPr id="8" name="Shape 6"/>
          <p:cNvSpPr/>
          <p:nvPr/>
        </p:nvSpPr>
        <p:spPr>
          <a:xfrm>
            <a:off x="365760" y="1188720"/>
            <a:ext cx="3657600" cy="36576"/>
          </a:xfrm>
          <a:prstGeom prst="rect">
            <a:avLst/>
          </a:prstGeom>
          <a:solidFill>
            <a:srgbClr val="C8A951"/>
          </a:solidFill>
          <a:ln w="12700">
            <a:solidFill>
              <a:srgbClr val="C8A951"/>
            </a:solidFill>
            <a:prstDash val="solid"/>
          </a:ln>
        </p:spPr>
      </p:sp>
      <p:sp>
        <p:nvSpPr>
          <p:cNvPr id="9" name="Shape 7"/>
          <p:cNvSpPr/>
          <p:nvPr/>
        </p:nvSpPr>
        <p:spPr>
          <a:xfrm>
            <a:off x="365760" y="1325880"/>
            <a:ext cx="347472" cy="960120"/>
          </a:xfrm>
          <a:prstGeom prst="rect">
            <a:avLst/>
          </a:prstGeom>
          <a:solidFill>
            <a:srgbClr val="1A3A5C"/>
          </a:solidFill>
          <a:ln w="12700">
            <a:solidFill>
              <a:srgbClr val="1A3A5C"/>
            </a:solidFill>
            <a:prstDash val="solid"/>
          </a:ln>
        </p:spPr>
      </p:sp>
      <p:sp>
        <p:nvSpPr>
          <p:cNvPr id="10" name="Text 8"/>
          <p:cNvSpPr/>
          <p:nvPr/>
        </p:nvSpPr>
        <p:spPr>
          <a:xfrm>
            <a:off x="365760" y="1325880"/>
            <a:ext cx="347472" cy="9601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1" name="Shape 9"/>
          <p:cNvSpPr/>
          <p:nvPr/>
        </p:nvSpPr>
        <p:spPr>
          <a:xfrm>
            <a:off x="749808" y="1325880"/>
            <a:ext cx="8028432" cy="960120"/>
          </a:xfrm>
          <a:prstGeom prst="rect">
            <a:avLst/>
          </a:prstGeom>
          <a:solidFill>
            <a:srgbClr val="D6E4F0"/>
          </a:solidFill>
          <a:ln w="12700">
            <a:solidFill>
              <a:srgbClr val="5B9BD5"/>
            </a:solidFill>
            <a:prstDash val="solid"/>
          </a:ln>
        </p:spPr>
      </p:sp>
      <p:sp>
        <p:nvSpPr>
          <p:cNvPr id="12" name="Text 10"/>
          <p:cNvSpPr/>
          <p:nvPr/>
        </p:nvSpPr>
        <p:spPr>
          <a:xfrm>
            <a:off x="896112" y="1417320"/>
            <a:ext cx="7772400" cy="274320"/>
          </a:xfrm>
          <a:prstGeom prst="rect">
            <a:avLst/>
          </a:prstGeom>
          <a:noFill/>
          <a:ln/>
        </p:spPr>
        <p:txBody>
          <a:bodyPr wrap="square" lIns="0" tIns="0" rIns="0" bIns="0" rtlCol="0" anchor="ctr"/>
          <a:lstStyle/>
          <a:p>
            <a:pPr indent="0" marL="0">
              <a:buNone/>
            </a:pPr>
            <a:r>
              <a:rPr lang="en-US" sz="1150" b="1" dirty="0">
                <a:solidFill>
                  <a:srgbClr val="1A3A5C"/>
                </a:solidFill>
              </a:rPr>
              <a:t>Task 1 – Web Development Course Search</a:t>
            </a:r>
            <a:endParaRPr lang="en-US" sz="1150" dirty="0"/>
          </a:p>
        </p:txBody>
      </p:sp>
      <p:sp>
        <p:nvSpPr>
          <p:cNvPr id="13" name="Text 11"/>
          <p:cNvSpPr/>
          <p:nvPr/>
        </p:nvSpPr>
        <p:spPr>
          <a:xfrm>
            <a:off x="896112" y="1709928"/>
            <a:ext cx="7772400" cy="512064"/>
          </a:xfrm>
          <a:prstGeom prst="rect">
            <a:avLst/>
          </a:prstGeom>
          <a:noFill/>
          <a:ln/>
        </p:spPr>
        <p:txBody>
          <a:bodyPr wrap="square" lIns="0" tIns="0" rIns="0" bIns="0" rtlCol="0" anchor="ctr"/>
          <a:lstStyle/>
          <a:p>
            <a:pPr indent="0" marL="0">
              <a:buNone/>
            </a:pPr>
            <a:r>
              <a:rPr lang="en-US" sz="1050" dirty="0">
                <a:solidFill>
                  <a:srgbClr val="4A4A4A"/>
                </a:solidFill>
              </a:rPr>
              <a:t>Search 'Web Development' (Beginner, English) on Coursera. Extract course name, total learning hours &amp; rating for the first two results.</a:t>
            </a:r>
            <a:endParaRPr lang="en-US" sz="1050" dirty="0"/>
          </a:p>
        </p:txBody>
      </p:sp>
      <p:sp>
        <p:nvSpPr>
          <p:cNvPr id="14" name="Shape 12"/>
          <p:cNvSpPr/>
          <p:nvPr/>
        </p:nvSpPr>
        <p:spPr>
          <a:xfrm>
            <a:off x="365760" y="2441448"/>
            <a:ext cx="347472" cy="960120"/>
          </a:xfrm>
          <a:prstGeom prst="rect">
            <a:avLst/>
          </a:prstGeom>
          <a:solidFill>
            <a:srgbClr val="2E6DA4"/>
          </a:solidFill>
          <a:ln w="12700">
            <a:solidFill>
              <a:srgbClr val="2E6DA4"/>
            </a:solidFill>
            <a:prstDash val="solid"/>
          </a:ln>
        </p:spPr>
      </p:sp>
      <p:sp>
        <p:nvSpPr>
          <p:cNvPr id="15" name="Text 13"/>
          <p:cNvSpPr/>
          <p:nvPr/>
        </p:nvSpPr>
        <p:spPr>
          <a:xfrm>
            <a:off x="365760" y="2441448"/>
            <a:ext cx="347472" cy="9601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6" name="Shape 14"/>
          <p:cNvSpPr/>
          <p:nvPr/>
        </p:nvSpPr>
        <p:spPr>
          <a:xfrm>
            <a:off x="749808" y="2441448"/>
            <a:ext cx="8028432" cy="960120"/>
          </a:xfrm>
          <a:prstGeom prst="rect">
            <a:avLst/>
          </a:prstGeom>
          <a:solidFill>
            <a:srgbClr val="FFFFFF"/>
          </a:solidFill>
          <a:ln w="12700">
            <a:solidFill>
              <a:srgbClr val="5B9BD5"/>
            </a:solidFill>
            <a:prstDash val="solid"/>
          </a:ln>
        </p:spPr>
      </p:sp>
      <p:sp>
        <p:nvSpPr>
          <p:cNvPr id="17" name="Text 15"/>
          <p:cNvSpPr/>
          <p:nvPr/>
        </p:nvSpPr>
        <p:spPr>
          <a:xfrm>
            <a:off x="896112" y="2532888"/>
            <a:ext cx="7772400" cy="274320"/>
          </a:xfrm>
          <a:prstGeom prst="rect">
            <a:avLst/>
          </a:prstGeom>
          <a:noFill/>
          <a:ln/>
        </p:spPr>
        <p:txBody>
          <a:bodyPr wrap="square" lIns="0" tIns="0" rIns="0" bIns="0" rtlCol="0" anchor="ctr"/>
          <a:lstStyle/>
          <a:p>
            <a:pPr indent="0" marL="0">
              <a:buNone/>
            </a:pPr>
            <a:r>
              <a:rPr lang="en-US" sz="1150" b="1" dirty="0">
                <a:solidFill>
                  <a:srgbClr val="1A3A5C"/>
                </a:solidFill>
              </a:rPr>
              <a:t>Task 2 – Language Learning Data Extraction</a:t>
            </a:r>
            <a:endParaRPr lang="en-US" sz="1150" dirty="0"/>
          </a:p>
        </p:txBody>
      </p:sp>
      <p:sp>
        <p:nvSpPr>
          <p:cNvPr id="18" name="Text 16"/>
          <p:cNvSpPr/>
          <p:nvPr/>
        </p:nvSpPr>
        <p:spPr>
          <a:xfrm>
            <a:off x="896112" y="2825496"/>
            <a:ext cx="7772400" cy="512064"/>
          </a:xfrm>
          <a:prstGeom prst="rect">
            <a:avLst/>
          </a:prstGeom>
          <a:noFill/>
          <a:ln/>
        </p:spPr>
        <p:txBody>
          <a:bodyPr wrap="square" lIns="0" tIns="0" rIns="0" bIns="0" rtlCol="0" anchor="ctr"/>
          <a:lstStyle/>
          <a:p>
            <a:pPr indent="0" marL="0">
              <a:buNone/>
            </a:pPr>
            <a:r>
              <a:rPr lang="en-US" sz="1050" dirty="0">
                <a:solidFill>
                  <a:srgbClr val="4A4A4A"/>
                </a:solidFill>
              </a:rPr>
              <a:t>Navigate to Language Learning category. Extract all languages, proficiency levels &amp; total course counts. Store in HashMap structure.</a:t>
            </a:r>
            <a:endParaRPr lang="en-US" sz="1050" dirty="0"/>
          </a:p>
        </p:txBody>
      </p:sp>
      <p:sp>
        <p:nvSpPr>
          <p:cNvPr id="19" name="Shape 17"/>
          <p:cNvSpPr/>
          <p:nvPr/>
        </p:nvSpPr>
        <p:spPr>
          <a:xfrm>
            <a:off x="365760" y="3557016"/>
            <a:ext cx="347472" cy="960120"/>
          </a:xfrm>
          <a:prstGeom prst="rect">
            <a:avLst/>
          </a:prstGeom>
          <a:solidFill>
            <a:srgbClr val="C8A951"/>
          </a:solidFill>
          <a:ln w="12700">
            <a:solidFill>
              <a:srgbClr val="C8A951"/>
            </a:solidFill>
            <a:prstDash val="solid"/>
          </a:ln>
        </p:spPr>
      </p:sp>
      <p:sp>
        <p:nvSpPr>
          <p:cNvPr id="20" name="Text 18"/>
          <p:cNvSpPr/>
          <p:nvPr/>
        </p:nvSpPr>
        <p:spPr>
          <a:xfrm>
            <a:off x="365760" y="3557016"/>
            <a:ext cx="347472" cy="9601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1" name="Shape 19"/>
          <p:cNvSpPr/>
          <p:nvPr/>
        </p:nvSpPr>
        <p:spPr>
          <a:xfrm>
            <a:off x="749808" y="3557016"/>
            <a:ext cx="8028432" cy="960120"/>
          </a:xfrm>
          <a:prstGeom prst="rect">
            <a:avLst/>
          </a:prstGeom>
          <a:solidFill>
            <a:srgbClr val="D6E4F0"/>
          </a:solidFill>
          <a:ln w="12700">
            <a:solidFill>
              <a:srgbClr val="5B9BD5"/>
            </a:solidFill>
            <a:prstDash val="solid"/>
          </a:ln>
        </p:spPr>
      </p:sp>
      <p:sp>
        <p:nvSpPr>
          <p:cNvPr id="22" name="Text 20"/>
          <p:cNvSpPr/>
          <p:nvPr/>
        </p:nvSpPr>
        <p:spPr>
          <a:xfrm>
            <a:off x="896112" y="3648456"/>
            <a:ext cx="7772400" cy="274320"/>
          </a:xfrm>
          <a:prstGeom prst="rect">
            <a:avLst/>
          </a:prstGeom>
          <a:noFill/>
          <a:ln/>
        </p:spPr>
        <p:txBody>
          <a:bodyPr wrap="square" lIns="0" tIns="0" rIns="0" bIns="0" rtlCol="0" anchor="ctr"/>
          <a:lstStyle/>
          <a:p>
            <a:pPr indent="0" marL="0">
              <a:buNone/>
            </a:pPr>
            <a:r>
              <a:rPr lang="en-US" sz="1150" b="1" dirty="0">
                <a:solidFill>
                  <a:srgbClr val="1A3A5C"/>
                </a:solidFill>
              </a:rPr>
              <a:t>Task 3 – Form Validation &amp; Error Capture</a:t>
            </a:r>
            <a:endParaRPr lang="en-US" sz="1150" dirty="0"/>
          </a:p>
        </p:txBody>
      </p:sp>
      <p:sp>
        <p:nvSpPr>
          <p:cNvPr id="23" name="Text 21"/>
          <p:cNvSpPr/>
          <p:nvPr/>
        </p:nvSpPr>
        <p:spPr>
          <a:xfrm>
            <a:off x="896112" y="3941064"/>
            <a:ext cx="7772400" cy="512064"/>
          </a:xfrm>
          <a:prstGeom prst="rect">
            <a:avLst/>
          </a:prstGeom>
          <a:noFill/>
          <a:ln/>
        </p:spPr>
        <p:txBody>
          <a:bodyPr wrap="square" lIns="0" tIns="0" rIns="0" bIns="0" rtlCol="0" anchor="ctr"/>
          <a:lstStyle/>
          <a:p>
            <a:pPr indent="0" marL="0">
              <a:buNone/>
            </a:pPr>
            <a:r>
              <a:rPr lang="en-US" sz="1050" dirty="0">
                <a:solidFill>
                  <a:srgbClr val="4A4A4A"/>
                </a:solidFill>
              </a:rPr>
              <a:t>Navigate to 'For Enterprise' → Courses for Campus. Fill 'Ready to Transform' form with invalid email. Capture &amp; display the validation error message.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5C"/>
          </a:solidFill>
          <a:ln w="12700">
            <a:solidFill>
              <a:srgbClr val="1A3A5C"/>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200" b="1" dirty="0">
                <a:solidFill>
                  <a:srgbClr val="FFFFFF"/>
                </a:solidFill>
              </a:rPr>
              <a:t>Plan of Action</a:t>
            </a:r>
            <a:endParaRPr lang="en-US" sz="2200" dirty="0"/>
          </a:p>
        </p:txBody>
      </p:sp>
      <p:sp>
        <p:nvSpPr>
          <p:cNvPr id="4" name="Shape 2"/>
          <p:cNvSpPr/>
          <p:nvPr/>
        </p:nvSpPr>
        <p:spPr>
          <a:xfrm>
            <a:off x="0" y="658368"/>
            <a:ext cx="9144000" cy="54864"/>
          </a:xfrm>
          <a:prstGeom prst="rect">
            <a:avLst/>
          </a:prstGeom>
          <a:solidFill>
            <a:srgbClr val="C8A951"/>
          </a:solidFill>
          <a:ln w="12700">
            <a:solidFill>
              <a:srgbClr val="C8A951"/>
            </a:solidFill>
            <a:prstDash val="solid"/>
          </a:ln>
        </p:spPr>
      </p:sp>
      <p:sp>
        <p:nvSpPr>
          <p:cNvPr id="5" name="Shape 3"/>
          <p:cNvSpPr/>
          <p:nvPr/>
        </p:nvSpPr>
        <p:spPr>
          <a:xfrm>
            <a:off x="0" y="4901184"/>
            <a:ext cx="9144000" cy="242316"/>
          </a:xfrm>
          <a:prstGeom prst="rect">
            <a:avLst/>
          </a:prstGeom>
          <a:solidFill>
            <a:srgbClr val="1A3A5C"/>
          </a:solidFill>
          <a:ln w="12700">
            <a:solidFill>
              <a:srgbClr val="1A3A5C"/>
            </a:solidFill>
            <a:prstDash val="solid"/>
          </a:ln>
        </p:spPr>
      </p:sp>
      <p:sp>
        <p:nvSpPr>
          <p:cNvPr id="6" name="Text 4"/>
          <p:cNvSpPr/>
          <p:nvPr/>
        </p:nvSpPr>
        <p:spPr>
          <a:xfrm>
            <a:off x="274320" y="4901184"/>
            <a:ext cx="8595360" cy="242316"/>
          </a:xfrm>
          <a:prstGeom prst="rect">
            <a:avLst/>
          </a:prstGeom>
          <a:noFill/>
          <a:ln/>
        </p:spPr>
        <p:txBody>
          <a:bodyPr wrap="square" lIns="0" tIns="0" rIns="0" bIns="0" rtlCol="0" anchor="ctr"/>
          <a:lstStyle/>
          <a:p>
            <a:pPr algn="ctr" indent="0" marL="0">
              <a:buNone/>
            </a:pPr>
            <a:r>
              <a:rPr lang="en-US" sz="850" dirty="0">
                <a:solidFill>
                  <a:srgbClr val="D6E4F0"/>
                </a:solidFill>
              </a:rPr>
              <a:t>Department of Computer Technology  |  YCCE, Nagpur  |  Session 2025–26</a:t>
            </a:r>
            <a:endParaRPr lang="en-US" sz="850" dirty="0"/>
          </a:p>
        </p:txBody>
      </p:sp>
      <p:sp>
        <p:nvSpPr>
          <p:cNvPr id="7" name="Shape 5"/>
          <p:cNvSpPr/>
          <p:nvPr/>
        </p:nvSpPr>
        <p:spPr>
          <a:xfrm>
            <a:off x="274320" y="804672"/>
            <a:ext cx="8595360" cy="420624"/>
          </a:xfrm>
          <a:prstGeom prst="rect">
            <a:avLst/>
          </a:prstGeom>
          <a:solidFill>
            <a:srgbClr val="1A3A5C"/>
          </a:solidFill>
          <a:ln w="12700">
            <a:solidFill>
              <a:srgbClr val="1A3A5C"/>
            </a:solidFill>
            <a:prstDash val="solid"/>
          </a:ln>
        </p:spPr>
      </p:sp>
      <p:sp>
        <p:nvSpPr>
          <p:cNvPr id="8" name="Text 6"/>
          <p:cNvSpPr/>
          <p:nvPr/>
        </p:nvSpPr>
        <p:spPr>
          <a:xfrm>
            <a:off x="347472" y="804672"/>
            <a:ext cx="2834640" cy="420624"/>
          </a:xfrm>
          <a:prstGeom prst="rect">
            <a:avLst/>
          </a:prstGeom>
          <a:noFill/>
          <a:ln/>
        </p:spPr>
        <p:txBody>
          <a:bodyPr wrap="square" lIns="0" tIns="0" rIns="0" bIns="0" rtlCol="0" anchor="ctr"/>
          <a:lstStyle/>
          <a:p>
            <a:pPr indent="0" marL="0">
              <a:buNone/>
            </a:pPr>
            <a:r>
              <a:rPr lang="en-US" sz="1100" b="1" dirty="0">
                <a:solidFill>
                  <a:srgbClr val="FFFFFF"/>
                </a:solidFill>
              </a:rPr>
              <a:t>Activity</a:t>
            </a:r>
            <a:endParaRPr lang="en-US" sz="1100" dirty="0"/>
          </a:p>
        </p:txBody>
      </p:sp>
      <p:sp>
        <p:nvSpPr>
          <p:cNvPr id="9" name="Shape 7"/>
          <p:cNvSpPr/>
          <p:nvPr/>
        </p:nvSpPr>
        <p:spPr>
          <a:xfrm>
            <a:off x="3108960" y="804672"/>
            <a:ext cx="1188720" cy="420624"/>
          </a:xfrm>
          <a:prstGeom prst="rect">
            <a:avLst/>
          </a:prstGeom>
          <a:solidFill>
            <a:srgbClr val="5B9BD5"/>
          </a:solidFill>
          <a:ln w="12700">
            <a:solidFill>
              <a:srgbClr val="1A3A5C"/>
            </a:solidFill>
            <a:prstDash val="solid"/>
          </a:ln>
        </p:spPr>
      </p:sp>
      <p:sp>
        <p:nvSpPr>
          <p:cNvPr id="10" name="Text 8"/>
          <p:cNvSpPr/>
          <p:nvPr/>
        </p:nvSpPr>
        <p:spPr>
          <a:xfrm>
            <a:off x="3108960" y="804672"/>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rPr>
              <a:t>Jan 2026</a:t>
            </a:r>
            <a:endParaRPr lang="en-US" sz="950" dirty="0"/>
          </a:p>
        </p:txBody>
      </p:sp>
      <p:sp>
        <p:nvSpPr>
          <p:cNvPr id="11" name="Shape 9"/>
          <p:cNvSpPr/>
          <p:nvPr/>
        </p:nvSpPr>
        <p:spPr>
          <a:xfrm>
            <a:off x="4315968" y="804672"/>
            <a:ext cx="1188720" cy="420624"/>
          </a:xfrm>
          <a:prstGeom prst="rect">
            <a:avLst/>
          </a:prstGeom>
          <a:solidFill>
            <a:srgbClr val="2E6DA4"/>
          </a:solidFill>
          <a:ln w="12700">
            <a:solidFill>
              <a:srgbClr val="1A3A5C"/>
            </a:solidFill>
            <a:prstDash val="solid"/>
          </a:ln>
        </p:spPr>
      </p:sp>
      <p:sp>
        <p:nvSpPr>
          <p:cNvPr id="12" name="Text 10"/>
          <p:cNvSpPr/>
          <p:nvPr/>
        </p:nvSpPr>
        <p:spPr>
          <a:xfrm>
            <a:off x="4315968" y="804672"/>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rPr>
              <a:t>Feb 2026</a:t>
            </a:r>
            <a:endParaRPr lang="en-US" sz="950" dirty="0"/>
          </a:p>
        </p:txBody>
      </p:sp>
      <p:sp>
        <p:nvSpPr>
          <p:cNvPr id="13" name="Shape 11"/>
          <p:cNvSpPr/>
          <p:nvPr/>
        </p:nvSpPr>
        <p:spPr>
          <a:xfrm>
            <a:off x="5522976" y="804672"/>
            <a:ext cx="1188720" cy="420624"/>
          </a:xfrm>
          <a:prstGeom prst="rect">
            <a:avLst/>
          </a:prstGeom>
          <a:solidFill>
            <a:srgbClr val="5B9BD5"/>
          </a:solidFill>
          <a:ln w="12700">
            <a:solidFill>
              <a:srgbClr val="1A3A5C"/>
            </a:solidFill>
            <a:prstDash val="solid"/>
          </a:ln>
        </p:spPr>
      </p:sp>
      <p:sp>
        <p:nvSpPr>
          <p:cNvPr id="14" name="Text 12"/>
          <p:cNvSpPr/>
          <p:nvPr/>
        </p:nvSpPr>
        <p:spPr>
          <a:xfrm>
            <a:off x="5522976" y="804672"/>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rPr>
              <a:t>Mar 2026</a:t>
            </a:r>
            <a:endParaRPr lang="en-US" sz="950" dirty="0"/>
          </a:p>
        </p:txBody>
      </p:sp>
      <p:sp>
        <p:nvSpPr>
          <p:cNvPr id="15" name="Shape 13"/>
          <p:cNvSpPr/>
          <p:nvPr/>
        </p:nvSpPr>
        <p:spPr>
          <a:xfrm>
            <a:off x="6729984" y="804672"/>
            <a:ext cx="1188720" cy="420624"/>
          </a:xfrm>
          <a:prstGeom prst="rect">
            <a:avLst/>
          </a:prstGeom>
          <a:solidFill>
            <a:srgbClr val="2E6DA4"/>
          </a:solidFill>
          <a:ln w="12700">
            <a:solidFill>
              <a:srgbClr val="1A3A5C"/>
            </a:solidFill>
            <a:prstDash val="solid"/>
          </a:ln>
        </p:spPr>
      </p:sp>
      <p:sp>
        <p:nvSpPr>
          <p:cNvPr id="16" name="Text 14"/>
          <p:cNvSpPr/>
          <p:nvPr/>
        </p:nvSpPr>
        <p:spPr>
          <a:xfrm>
            <a:off x="6729984" y="804672"/>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rPr>
              <a:t>Apr 2026</a:t>
            </a:r>
            <a:endParaRPr lang="en-US" sz="950" dirty="0"/>
          </a:p>
        </p:txBody>
      </p:sp>
      <p:sp>
        <p:nvSpPr>
          <p:cNvPr id="17" name="Shape 15"/>
          <p:cNvSpPr/>
          <p:nvPr/>
        </p:nvSpPr>
        <p:spPr>
          <a:xfrm>
            <a:off x="7936992" y="804672"/>
            <a:ext cx="1188720" cy="420624"/>
          </a:xfrm>
          <a:prstGeom prst="rect">
            <a:avLst/>
          </a:prstGeom>
          <a:solidFill>
            <a:srgbClr val="5B9BD5"/>
          </a:solidFill>
          <a:ln w="12700">
            <a:solidFill>
              <a:srgbClr val="1A3A5C"/>
            </a:solidFill>
            <a:prstDash val="solid"/>
          </a:ln>
        </p:spPr>
      </p:sp>
      <p:sp>
        <p:nvSpPr>
          <p:cNvPr id="18" name="Text 16"/>
          <p:cNvSpPr/>
          <p:nvPr/>
        </p:nvSpPr>
        <p:spPr>
          <a:xfrm>
            <a:off x="7936992" y="804672"/>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rPr>
              <a:t>May 2026</a:t>
            </a:r>
            <a:endParaRPr lang="en-US" sz="950" dirty="0"/>
          </a:p>
        </p:txBody>
      </p:sp>
      <p:sp>
        <p:nvSpPr>
          <p:cNvPr id="19" name="Shape 17"/>
          <p:cNvSpPr/>
          <p:nvPr/>
        </p:nvSpPr>
        <p:spPr>
          <a:xfrm>
            <a:off x="274320" y="1225296"/>
            <a:ext cx="2834640" cy="594360"/>
          </a:xfrm>
          <a:prstGeom prst="rect">
            <a:avLst/>
          </a:prstGeom>
          <a:solidFill>
            <a:srgbClr val="D6E4F0"/>
          </a:solidFill>
          <a:ln w="12700">
            <a:solidFill>
              <a:srgbClr val="5B9BD5"/>
            </a:solidFill>
            <a:prstDash val="solid"/>
          </a:ln>
        </p:spPr>
      </p:sp>
      <p:sp>
        <p:nvSpPr>
          <p:cNvPr id="20" name="Text 18"/>
          <p:cNvSpPr/>
          <p:nvPr/>
        </p:nvSpPr>
        <p:spPr>
          <a:xfrm>
            <a:off x="365760" y="1225296"/>
            <a:ext cx="2697480" cy="594360"/>
          </a:xfrm>
          <a:prstGeom prst="rect">
            <a:avLst/>
          </a:prstGeom>
          <a:noFill/>
          <a:ln/>
        </p:spPr>
        <p:txBody>
          <a:bodyPr wrap="square" lIns="0" tIns="0" rIns="0" bIns="0" rtlCol="0" anchor="ctr"/>
          <a:lstStyle/>
          <a:p>
            <a:pPr indent="0" marL="0">
              <a:buNone/>
            </a:pPr>
            <a:r>
              <a:rPr lang="en-US" sz="1050" dirty="0">
                <a:solidFill>
                  <a:srgbClr val="4A4A4A"/>
                </a:solidFill>
              </a:rPr>
              <a:t>Requirement Analysis &amp; SRS</a:t>
            </a:r>
            <a:endParaRPr lang="en-US" sz="1050" dirty="0"/>
          </a:p>
        </p:txBody>
      </p:sp>
      <p:sp>
        <p:nvSpPr>
          <p:cNvPr id="21" name="Shape 19"/>
          <p:cNvSpPr/>
          <p:nvPr/>
        </p:nvSpPr>
        <p:spPr>
          <a:xfrm>
            <a:off x="3108960" y="1225296"/>
            <a:ext cx="1188720" cy="594360"/>
          </a:xfrm>
          <a:prstGeom prst="rect">
            <a:avLst/>
          </a:prstGeom>
          <a:solidFill>
            <a:srgbClr val="D6E4F0"/>
          </a:solidFill>
          <a:ln w="12700">
            <a:solidFill>
              <a:srgbClr val="5B9BD5"/>
            </a:solidFill>
            <a:prstDash val="solid"/>
          </a:ln>
        </p:spPr>
      </p:sp>
      <p:sp>
        <p:nvSpPr>
          <p:cNvPr id="22" name="Shape 20"/>
          <p:cNvSpPr/>
          <p:nvPr/>
        </p:nvSpPr>
        <p:spPr>
          <a:xfrm>
            <a:off x="3218688" y="1353312"/>
            <a:ext cx="950976" cy="329184"/>
          </a:xfrm>
          <a:prstGeom prst="rect">
            <a:avLst/>
          </a:prstGeom>
          <a:solidFill>
            <a:srgbClr val="1A3A5C"/>
          </a:solidFill>
          <a:ln w="12700">
            <a:solidFill>
              <a:srgbClr val="1A3A5C"/>
            </a:solidFill>
            <a:prstDash val="solid"/>
          </a:ln>
        </p:spPr>
      </p:sp>
      <p:sp>
        <p:nvSpPr>
          <p:cNvPr id="23" name="Text 21"/>
          <p:cNvSpPr/>
          <p:nvPr/>
        </p:nvSpPr>
        <p:spPr>
          <a:xfrm>
            <a:off x="3218688" y="1353312"/>
            <a:ext cx="950976" cy="32918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4" name="Shape 22"/>
          <p:cNvSpPr/>
          <p:nvPr/>
        </p:nvSpPr>
        <p:spPr>
          <a:xfrm>
            <a:off x="4315968" y="1225296"/>
            <a:ext cx="1188720" cy="594360"/>
          </a:xfrm>
          <a:prstGeom prst="rect">
            <a:avLst/>
          </a:prstGeom>
          <a:solidFill>
            <a:srgbClr val="D6E4F0"/>
          </a:solidFill>
          <a:ln w="12700">
            <a:solidFill>
              <a:srgbClr val="5B9BD5"/>
            </a:solidFill>
            <a:prstDash val="solid"/>
          </a:ln>
        </p:spPr>
      </p:sp>
      <p:sp>
        <p:nvSpPr>
          <p:cNvPr id="25" name="Shape 23"/>
          <p:cNvSpPr/>
          <p:nvPr/>
        </p:nvSpPr>
        <p:spPr>
          <a:xfrm>
            <a:off x="5522976" y="1225296"/>
            <a:ext cx="1188720" cy="594360"/>
          </a:xfrm>
          <a:prstGeom prst="rect">
            <a:avLst/>
          </a:prstGeom>
          <a:solidFill>
            <a:srgbClr val="D6E4F0"/>
          </a:solidFill>
          <a:ln w="12700">
            <a:solidFill>
              <a:srgbClr val="5B9BD5"/>
            </a:solidFill>
            <a:prstDash val="solid"/>
          </a:ln>
        </p:spPr>
      </p:sp>
      <p:sp>
        <p:nvSpPr>
          <p:cNvPr id="26" name="Shape 24"/>
          <p:cNvSpPr/>
          <p:nvPr/>
        </p:nvSpPr>
        <p:spPr>
          <a:xfrm>
            <a:off x="6729984" y="1225296"/>
            <a:ext cx="1188720" cy="594360"/>
          </a:xfrm>
          <a:prstGeom prst="rect">
            <a:avLst/>
          </a:prstGeom>
          <a:solidFill>
            <a:srgbClr val="D6E4F0"/>
          </a:solidFill>
          <a:ln w="12700">
            <a:solidFill>
              <a:srgbClr val="5B9BD5"/>
            </a:solidFill>
            <a:prstDash val="solid"/>
          </a:ln>
        </p:spPr>
      </p:sp>
      <p:sp>
        <p:nvSpPr>
          <p:cNvPr id="27" name="Shape 25"/>
          <p:cNvSpPr/>
          <p:nvPr/>
        </p:nvSpPr>
        <p:spPr>
          <a:xfrm>
            <a:off x="7936992" y="1225296"/>
            <a:ext cx="1188720" cy="594360"/>
          </a:xfrm>
          <a:prstGeom prst="rect">
            <a:avLst/>
          </a:prstGeom>
          <a:solidFill>
            <a:srgbClr val="D6E4F0"/>
          </a:solidFill>
          <a:ln w="12700">
            <a:solidFill>
              <a:srgbClr val="5B9BD5"/>
            </a:solidFill>
            <a:prstDash val="solid"/>
          </a:ln>
        </p:spPr>
      </p:sp>
      <p:sp>
        <p:nvSpPr>
          <p:cNvPr id="28" name="Shape 26"/>
          <p:cNvSpPr/>
          <p:nvPr/>
        </p:nvSpPr>
        <p:spPr>
          <a:xfrm>
            <a:off x="274320" y="1883664"/>
            <a:ext cx="2834640" cy="594360"/>
          </a:xfrm>
          <a:prstGeom prst="rect">
            <a:avLst/>
          </a:prstGeom>
          <a:solidFill>
            <a:srgbClr val="FFFFFF"/>
          </a:solidFill>
          <a:ln w="12700">
            <a:solidFill>
              <a:srgbClr val="5B9BD5"/>
            </a:solidFill>
            <a:prstDash val="solid"/>
          </a:ln>
        </p:spPr>
      </p:sp>
      <p:sp>
        <p:nvSpPr>
          <p:cNvPr id="29" name="Text 27"/>
          <p:cNvSpPr/>
          <p:nvPr/>
        </p:nvSpPr>
        <p:spPr>
          <a:xfrm>
            <a:off x="365760" y="1883664"/>
            <a:ext cx="2697480" cy="594360"/>
          </a:xfrm>
          <a:prstGeom prst="rect">
            <a:avLst/>
          </a:prstGeom>
          <a:noFill/>
          <a:ln/>
        </p:spPr>
        <p:txBody>
          <a:bodyPr wrap="square" lIns="0" tIns="0" rIns="0" bIns="0" rtlCol="0" anchor="ctr"/>
          <a:lstStyle/>
          <a:p>
            <a:pPr indent="0" marL="0">
              <a:buNone/>
            </a:pPr>
            <a:r>
              <a:rPr lang="en-US" sz="1050" dirty="0">
                <a:solidFill>
                  <a:srgbClr val="4A4A4A"/>
                </a:solidFill>
              </a:rPr>
              <a:t>Environment Setup &amp; Learning</a:t>
            </a:r>
            <a:endParaRPr lang="en-US" sz="1050" dirty="0"/>
          </a:p>
        </p:txBody>
      </p:sp>
      <p:sp>
        <p:nvSpPr>
          <p:cNvPr id="30" name="Shape 28"/>
          <p:cNvSpPr/>
          <p:nvPr/>
        </p:nvSpPr>
        <p:spPr>
          <a:xfrm>
            <a:off x="3108960" y="1883664"/>
            <a:ext cx="1188720" cy="594360"/>
          </a:xfrm>
          <a:prstGeom prst="rect">
            <a:avLst/>
          </a:prstGeom>
          <a:solidFill>
            <a:srgbClr val="FFFFFF"/>
          </a:solidFill>
          <a:ln w="12700">
            <a:solidFill>
              <a:srgbClr val="5B9BD5"/>
            </a:solidFill>
            <a:prstDash val="solid"/>
          </a:ln>
        </p:spPr>
      </p:sp>
      <p:sp>
        <p:nvSpPr>
          <p:cNvPr id="31" name="Shape 29"/>
          <p:cNvSpPr/>
          <p:nvPr/>
        </p:nvSpPr>
        <p:spPr>
          <a:xfrm>
            <a:off x="3218688" y="2011680"/>
            <a:ext cx="950976" cy="329184"/>
          </a:xfrm>
          <a:prstGeom prst="rect">
            <a:avLst/>
          </a:prstGeom>
          <a:solidFill>
            <a:srgbClr val="1A3A5C"/>
          </a:solidFill>
          <a:ln w="12700">
            <a:solidFill>
              <a:srgbClr val="1A3A5C"/>
            </a:solidFill>
            <a:prstDash val="solid"/>
          </a:ln>
        </p:spPr>
      </p:sp>
      <p:sp>
        <p:nvSpPr>
          <p:cNvPr id="32" name="Text 30"/>
          <p:cNvSpPr/>
          <p:nvPr/>
        </p:nvSpPr>
        <p:spPr>
          <a:xfrm>
            <a:off x="3218688" y="2011680"/>
            <a:ext cx="950976" cy="32918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3" name="Shape 31"/>
          <p:cNvSpPr/>
          <p:nvPr/>
        </p:nvSpPr>
        <p:spPr>
          <a:xfrm>
            <a:off x="4315968" y="1883664"/>
            <a:ext cx="1188720" cy="594360"/>
          </a:xfrm>
          <a:prstGeom prst="rect">
            <a:avLst/>
          </a:prstGeom>
          <a:solidFill>
            <a:srgbClr val="FFFFFF"/>
          </a:solidFill>
          <a:ln w="12700">
            <a:solidFill>
              <a:srgbClr val="5B9BD5"/>
            </a:solidFill>
            <a:prstDash val="solid"/>
          </a:ln>
        </p:spPr>
      </p:sp>
      <p:sp>
        <p:nvSpPr>
          <p:cNvPr id="34" name="Shape 32"/>
          <p:cNvSpPr/>
          <p:nvPr/>
        </p:nvSpPr>
        <p:spPr>
          <a:xfrm>
            <a:off x="4425696" y="2011680"/>
            <a:ext cx="950976" cy="329184"/>
          </a:xfrm>
          <a:prstGeom prst="rect">
            <a:avLst/>
          </a:prstGeom>
          <a:solidFill>
            <a:srgbClr val="1A3A5C"/>
          </a:solidFill>
          <a:ln w="12700">
            <a:solidFill>
              <a:srgbClr val="1A3A5C"/>
            </a:solidFill>
            <a:prstDash val="solid"/>
          </a:ln>
        </p:spPr>
      </p:sp>
      <p:sp>
        <p:nvSpPr>
          <p:cNvPr id="35" name="Text 33"/>
          <p:cNvSpPr/>
          <p:nvPr/>
        </p:nvSpPr>
        <p:spPr>
          <a:xfrm>
            <a:off x="4425696" y="2011680"/>
            <a:ext cx="950976" cy="32918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6" name="Shape 34"/>
          <p:cNvSpPr/>
          <p:nvPr/>
        </p:nvSpPr>
        <p:spPr>
          <a:xfrm>
            <a:off x="5522976" y="1883664"/>
            <a:ext cx="1188720" cy="594360"/>
          </a:xfrm>
          <a:prstGeom prst="rect">
            <a:avLst/>
          </a:prstGeom>
          <a:solidFill>
            <a:srgbClr val="FFFFFF"/>
          </a:solidFill>
          <a:ln w="12700">
            <a:solidFill>
              <a:srgbClr val="5B9BD5"/>
            </a:solidFill>
            <a:prstDash val="solid"/>
          </a:ln>
        </p:spPr>
      </p:sp>
      <p:sp>
        <p:nvSpPr>
          <p:cNvPr id="37" name="Shape 35"/>
          <p:cNvSpPr/>
          <p:nvPr/>
        </p:nvSpPr>
        <p:spPr>
          <a:xfrm>
            <a:off x="6729984" y="1883664"/>
            <a:ext cx="1188720" cy="594360"/>
          </a:xfrm>
          <a:prstGeom prst="rect">
            <a:avLst/>
          </a:prstGeom>
          <a:solidFill>
            <a:srgbClr val="FFFFFF"/>
          </a:solidFill>
          <a:ln w="12700">
            <a:solidFill>
              <a:srgbClr val="5B9BD5"/>
            </a:solidFill>
            <a:prstDash val="solid"/>
          </a:ln>
        </p:spPr>
      </p:sp>
      <p:sp>
        <p:nvSpPr>
          <p:cNvPr id="38" name="Shape 36"/>
          <p:cNvSpPr/>
          <p:nvPr/>
        </p:nvSpPr>
        <p:spPr>
          <a:xfrm>
            <a:off x="7936992" y="1883664"/>
            <a:ext cx="1188720" cy="594360"/>
          </a:xfrm>
          <a:prstGeom prst="rect">
            <a:avLst/>
          </a:prstGeom>
          <a:solidFill>
            <a:srgbClr val="FFFFFF"/>
          </a:solidFill>
          <a:ln w="12700">
            <a:solidFill>
              <a:srgbClr val="5B9BD5"/>
            </a:solidFill>
            <a:prstDash val="solid"/>
          </a:ln>
        </p:spPr>
      </p:sp>
      <p:sp>
        <p:nvSpPr>
          <p:cNvPr id="39" name="Shape 37"/>
          <p:cNvSpPr/>
          <p:nvPr/>
        </p:nvSpPr>
        <p:spPr>
          <a:xfrm>
            <a:off x="274320" y="2542032"/>
            <a:ext cx="2834640" cy="594360"/>
          </a:xfrm>
          <a:prstGeom prst="rect">
            <a:avLst/>
          </a:prstGeom>
          <a:solidFill>
            <a:srgbClr val="D6E4F0"/>
          </a:solidFill>
          <a:ln w="12700">
            <a:solidFill>
              <a:srgbClr val="5B9BD5"/>
            </a:solidFill>
            <a:prstDash val="solid"/>
          </a:ln>
        </p:spPr>
      </p:sp>
      <p:sp>
        <p:nvSpPr>
          <p:cNvPr id="40" name="Text 38"/>
          <p:cNvSpPr/>
          <p:nvPr/>
        </p:nvSpPr>
        <p:spPr>
          <a:xfrm>
            <a:off x="365760" y="2542032"/>
            <a:ext cx="2697480" cy="594360"/>
          </a:xfrm>
          <a:prstGeom prst="rect">
            <a:avLst/>
          </a:prstGeom>
          <a:noFill/>
          <a:ln/>
        </p:spPr>
        <p:txBody>
          <a:bodyPr wrap="square" lIns="0" tIns="0" rIns="0" bIns="0" rtlCol="0" anchor="ctr"/>
          <a:lstStyle/>
          <a:p>
            <a:pPr indent="0" marL="0">
              <a:buNone/>
            </a:pPr>
            <a:r>
              <a:rPr lang="en-US" sz="1050" dirty="0">
                <a:solidFill>
                  <a:srgbClr val="4A4A4A"/>
                </a:solidFill>
              </a:rPr>
              <a:t>Script Development (Tasks 1–3)</a:t>
            </a:r>
            <a:endParaRPr lang="en-US" sz="1050" dirty="0"/>
          </a:p>
        </p:txBody>
      </p:sp>
      <p:sp>
        <p:nvSpPr>
          <p:cNvPr id="41" name="Shape 39"/>
          <p:cNvSpPr/>
          <p:nvPr/>
        </p:nvSpPr>
        <p:spPr>
          <a:xfrm>
            <a:off x="3108960" y="2542032"/>
            <a:ext cx="1188720" cy="594360"/>
          </a:xfrm>
          <a:prstGeom prst="rect">
            <a:avLst/>
          </a:prstGeom>
          <a:solidFill>
            <a:srgbClr val="D6E4F0"/>
          </a:solidFill>
          <a:ln w="12700">
            <a:solidFill>
              <a:srgbClr val="5B9BD5"/>
            </a:solidFill>
            <a:prstDash val="solid"/>
          </a:ln>
        </p:spPr>
      </p:sp>
      <p:sp>
        <p:nvSpPr>
          <p:cNvPr id="42" name="Shape 40"/>
          <p:cNvSpPr/>
          <p:nvPr/>
        </p:nvSpPr>
        <p:spPr>
          <a:xfrm>
            <a:off x="4315968" y="2542032"/>
            <a:ext cx="1188720" cy="594360"/>
          </a:xfrm>
          <a:prstGeom prst="rect">
            <a:avLst/>
          </a:prstGeom>
          <a:solidFill>
            <a:srgbClr val="D6E4F0"/>
          </a:solidFill>
          <a:ln w="12700">
            <a:solidFill>
              <a:srgbClr val="5B9BD5"/>
            </a:solidFill>
            <a:prstDash val="solid"/>
          </a:ln>
        </p:spPr>
      </p:sp>
      <p:sp>
        <p:nvSpPr>
          <p:cNvPr id="43" name="Shape 41"/>
          <p:cNvSpPr/>
          <p:nvPr/>
        </p:nvSpPr>
        <p:spPr>
          <a:xfrm>
            <a:off x="4425696" y="2670048"/>
            <a:ext cx="950976" cy="329184"/>
          </a:xfrm>
          <a:prstGeom prst="rect">
            <a:avLst/>
          </a:prstGeom>
          <a:solidFill>
            <a:srgbClr val="1A3A5C"/>
          </a:solidFill>
          <a:ln w="12700">
            <a:solidFill>
              <a:srgbClr val="1A3A5C"/>
            </a:solidFill>
            <a:prstDash val="solid"/>
          </a:ln>
        </p:spPr>
      </p:sp>
      <p:sp>
        <p:nvSpPr>
          <p:cNvPr id="44" name="Text 42"/>
          <p:cNvSpPr/>
          <p:nvPr/>
        </p:nvSpPr>
        <p:spPr>
          <a:xfrm>
            <a:off x="4425696" y="2670048"/>
            <a:ext cx="950976" cy="32918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5" name="Shape 43"/>
          <p:cNvSpPr/>
          <p:nvPr/>
        </p:nvSpPr>
        <p:spPr>
          <a:xfrm>
            <a:off x="5522976" y="2542032"/>
            <a:ext cx="1188720" cy="594360"/>
          </a:xfrm>
          <a:prstGeom prst="rect">
            <a:avLst/>
          </a:prstGeom>
          <a:solidFill>
            <a:srgbClr val="D6E4F0"/>
          </a:solidFill>
          <a:ln w="12700">
            <a:solidFill>
              <a:srgbClr val="5B9BD5"/>
            </a:solidFill>
            <a:prstDash val="solid"/>
          </a:ln>
        </p:spPr>
      </p:sp>
      <p:sp>
        <p:nvSpPr>
          <p:cNvPr id="46" name="Shape 44"/>
          <p:cNvSpPr/>
          <p:nvPr/>
        </p:nvSpPr>
        <p:spPr>
          <a:xfrm>
            <a:off x="5632704" y="2670048"/>
            <a:ext cx="950976" cy="329184"/>
          </a:xfrm>
          <a:prstGeom prst="rect">
            <a:avLst/>
          </a:prstGeom>
          <a:solidFill>
            <a:srgbClr val="1A3A5C"/>
          </a:solidFill>
          <a:ln w="12700">
            <a:solidFill>
              <a:srgbClr val="1A3A5C"/>
            </a:solidFill>
            <a:prstDash val="solid"/>
          </a:ln>
        </p:spPr>
      </p:sp>
      <p:sp>
        <p:nvSpPr>
          <p:cNvPr id="47" name="Text 45"/>
          <p:cNvSpPr/>
          <p:nvPr/>
        </p:nvSpPr>
        <p:spPr>
          <a:xfrm>
            <a:off x="5632704" y="2670048"/>
            <a:ext cx="950976" cy="32918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8" name="Shape 46"/>
          <p:cNvSpPr/>
          <p:nvPr/>
        </p:nvSpPr>
        <p:spPr>
          <a:xfrm>
            <a:off x="6729984" y="2542032"/>
            <a:ext cx="1188720" cy="594360"/>
          </a:xfrm>
          <a:prstGeom prst="rect">
            <a:avLst/>
          </a:prstGeom>
          <a:solidFill>
            <a:srgbClr val="D6E4F0"/>
          </a:solidFill>
          <a:ln w="12700">
            <a:solidFill>
              <a:srgbClr val="5B9BD5"/>
            </a:solidFill>
            <a:prstDash val="solid"/>
          </a:ln>
        </p:spPr>
      </p:sp>
      <p:sp>
        <p:nvSpPr>
          <p:cNvPr id="49" name="Shape 47"/>
          <p:cNvSpPr/>
          <p:nvPr/>
        </p:nvSpPr>
        <p:spPr>
          <a:xfrm>
            <a:off x="7936992" y="2542032"/>
            <a:ext cx="1188720" cy="594360"/>
          </a:xfrm>
          <a:prstGeom prst="rect">
            <a:avLst/>
          </a:prstGeom>
          <a:solidFill>
            <a:srgbClr val="D6E4F0"/>
          </a:solidFill>
          <a:ln w="12700">
            <a:solidFill>
              <a:srgbClr val="5B9BD5"/>
            </a:solidFill>
            <a:prstDash val="solid"/>
          </a:ln>
        </p:spPr>
      </p:sp>
      <p:sp>
        <p:nvSpPr>
          <p:cNvPr id="50" name="Shape 48"/>
          <p:cNvSpPr/>
          <p:nvPr/>
        </p:nvSpPr>
        <p:spPr>
          <a:xfrm>
            <a:off x="274320" y="3200400"/>
            <a:ext cx="2834640" cy="594360"/>
          </a:xfrm>
          <a:prstGeom prst="rect">
            <a:avLst/>
          </a:prstGeom>
          <a:solidFill>
            <a:srgbClr val="FFFFFF"/>
          </a:solidFill>
          <a:ln w="12700">
            <a:solidFill>
              <a:srgbClr val="5B9BD5"/>
            </a:solidFill>
            <a:prstDash val="solid"/>
          </a:ln>
        </p:spPr>
      </p:sp>
      <p:sp>
        <p:nvSpPr>
          <p:cNvPr id="51" name="Text 49"/>
          <p:cNvSpPr/>
          <p:nvPr/>
        </p:nvSpPr>
        <p:spPr>
          <a:xfrm>
            <a:off x="365760" y="3200400"/>
            <a:ext cx="2697480" cy="594360"/>
          </a:xfrm>
          <a:prstGeom prst="rect">
            <a:avLst/>
          </a:prstGeom>
          <a:noFill/>
          <a:ln/>
        </p:spPr>
        <p:txBody>
          <a:bodyPr wrap="square" lIns="0" tIns="0" rIns="0" bIns="0" rtlCol="0" anchor="ctr"/>
          <a:lstStyle/>
          <a:p>
            <a:pPr indent="0" marL="0">
              <a:buNone/>
            </a:pPr>
            <a:r>
              <a:rPr lang="en-US" sz="1050" dirty="0">
                <a:solidFill>
                  <a:srgbClr val="4A4A4A"/>
                </a:solidFill>
              </a:rPr>
              <a:t>Implementation &amp; Testing</a:t>
            </a:r>
            <a:endParaRPr lang="en-US" sz="1050" dirty="0"/>
          </a:p>
        </p:txBody>
      </p:sp>
      <p:sp>
        <p:nvSpPr>
          <p:cNvPr id="52" name="Shape 50"/>
          <p:cNvSpPr/>
          <p:nvPr/>
        </p:nvSpPr>
        <p:spPr>
          <a:xfrm>
            <a:off x="3108960" y="3200400"/>
            <a:ext cx="1188720" cy="594360"/>
          </a:xfrm>
          <a:prstGeom prst="rect">
            <a:avLst/>
          </a:prstGeom>
          <a:solidFill>
            <a:srgbClr val="FFFFFF"/>
          </a:solidFill>
          <a:ln w="12700">
            <a:solidFill>
              <a:srgbClr val="5B9BD5"/>
            </a:solidFill>
            <a:prstDash val="solid"/>
          </a:ln>
        </p:spPr>
      </p:sp>
      <p:sp>
        <p:nvSpPr>
          <p:cNvPr id="53" name="Shape 51"/>
          <p:cNvSpPr/>
          <p:nvPr/>
        </p:nvSpPr>
        <p:spPr>
          <a:xfrm>
            <a:off x="4315968" y="3200400"/>
            <a:ext cx="1188720" cy="594360"/>
          </a:xfrm>
          <a:prstGeom prst="rect">
            <a:avLst/>
          </a:prstGeom>
          <a:solidFill>
            <a:srgbClr val="FFFFFF"/>
          </a:solidFill>
          <a:ln w="12700">
            <a:solidFill>
              <a:srgbClr val="5B9BD5"/>
            </a:solidFill>
            <a:prstDash val="solid"/>
          </a:ln>
        </p:spPr>
      </p:sp>
      <p:sp>
        <p:nvSpPr>
          <p:cNvPr id="54" name="Shape 52"/>
          <p:cNvSpPr/>
          <p:nvPr/>
        </p:nvSpPr>
        <p:spPr>
          <a:xfrm>
            <a:off x="5522976" y="3200400"/>
            <a:ext cx="1188720" cy="594360"/>
          </a:xfrm>
          <a:prstGeom prst="rect">
            <a:avLst/>
          </a:prstGeom>
          <a:solidFill>
            <a:srgbClr val="FFFFFF"/>
          </a:solidFill>
          <a:ln w="12700">
            <a:solidFill>
              <a:srgbClr val="5B9BD5"/>
            </a:solidFill>
            <a:prstDash val="solid"/>
          </a:ln>
        </p:spPr>
      </p:sp>
      <p:sp>
        <p:nvSpPr>
          <p:cNvPr id="55" name="Shape 53"/>
          <p:cNvSpPr/>
          <p:nvPr/>
        </p:nvSpPr>
        <p:spPr>
          <a:xfrm>
            <a:off x="5632704" y="3328416"/>
            <a:ext cx="950976" cy="329184"/>
          </a:xfrm>
          <a:prstGeom prst="rect">
            <a:avLst/>
          </a:prstGeom>
          <a:solidFill>
            <a:srgbClr val="1A3A5C"/>
          </a:solidFill>
          <a:ln w="12700">
            <a:solidFill>
              <a:srgbClr val="1A3A5C"/>
            </a:solidFill>
            <a:prstDash val="solid"/>
          </a:ln>
        </p:spPr>
      </p:sp>
      <p:sp>
        <p:nvSpPr>
          <p:cNvPr id="56" name="Text 54"/>
          <p:cNvSpPr/>
          <p:nvPr/>
        </p:nvSpPr>
        <p:spPr>
          <a:xfrm>
            <a:off x="5632704" y="3328416"/>
            <a:ext cx="950976" cy="32918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57" name="Shape 55"/>
          <p:cNvSpPr/>
          <p:nvPr/>
        </p:nvSpPr>
        <p:spPr>
          <a:xfrm>
            <a:off x="6729984" y="3200400"/>
            <a:ext cx="1188720" cy="594360"/>
          </a:xfrm>
          <a:prstGeom prst="rect">
            <a:avLst/>
          </a:prstGeom>
          <a:solidFill>
            <a:srgbClr val="FFFFFF"/>
          </a:solidFill>
          <a:ln w="12700">
            <a:solidFill>
              <a:srgbClr val="5B9BD5"/>
            </a:solidFill>
            <a:prstDash val="solid"/>
          </a:ln>
        </p:spPr>
      </p:sp>
      <p:sp>
        <p:nvSpPr>
          <p:cNvPr id="58" name="Shape 56"/>
          <p:cNvSpPr/>
          <p:nvPr/>
        </p:nvSpPr>
        <p:spPr>
          <a:xfrm>
            <a:off x="6839712" y="3328416"/>
            <a:ext cx="950976" cy="329184"/>
          </a:xfrm>
          <a:prstGeom prst="rect">
            <a:avLst/>
          </a:prstGeom>
          <a:solidFill>
            <a:srgbClr val="1A3A5C"/>
          </a:solidFill>
          <a:ln w="12700">
            <a:solidFill>
              <a:srgbClr val="1A3A5C"/>
            </a:solidFill>
            <a:prstDash val="solid"/>
          </a:ln>
        </p:spPr>
      </p:sp>
      <p:sp>
        <p:nvSpPr>
          <p:cNvPr id="59" name="Text 57"/>
          <p:cNvSpPr/>
          <p:nvPr/>
        </p:nvSpPr>
        <p:spPr>
          <a:xfrm>
            <a:off x="6839712" y="3328416"/>
            <a:ext cx="950976" cy="32918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60" name="Shape 58"/>
          <p:cNvSpPr/>
          <p:nvPr/>
        </p:nvSpPr>
        <p:spPr>
          <a:xfrm>
            <a:off x="7936992" y="3200400"/>
            <a:ext cx="1188720" cy="594360"/>
          </a:xfrm>
          <a:prstGeom prst="rect">
            <a:avLst/>
          </a:prstGeom>
          <a:solidFill>
            <a:srgbClr val="FFFFFF"/>
          </a:solidFill>
          <a:ln w="12700">
            <a:solidFill>
              <a:srgbClr val="5B9BD5"/>
            </a:solidFill>
            <a:prstDash val="solid"/>
          </a:ln>
        </p:spPr>
      </p:sp>
      <p:sp>
        <p:nvSpPr>
          <p:cNvPr id="61" name="Shape 59"/>
          <p:cNvSpPr/>
          <p:nvPr/>
        </p:nvSpPr>
        <p:spPr>
          <a:xfrm>
            <a:off x="274320" y="3858768"/>
            <a:ext cx="2834640" cy="594360"/>
          </a:xfrm>
          <a:prstGeom prst="rect">
            <a:avLst/>
          </a:prstGeom>
          <a:solidFill>
            <a:srgbClr val="D6E4F0"/>
          </a:solidFill>
          <a:ln w="12700">
            <a:solidFill>
              <a:srgbClr val="5B9BD5"/>
            </a:solidFill>
            <a:prstDash val="solid"/>
          </a:ln>
        </p:spPr>
      </p:sp>
      <p:sp>
        <p:nvSpPr>
          <p:cNvPr id="62" name="Text 60"/>
          <p:cNvSpPr/>
          <p:nvPr/>
        </p:nvSpPr>
        <p:spPr>
          <a:xfrm>
            <a:off x="365760" y="3858768"/>
            <a:ext cx="2697480" cy="594360"/>
          </a:xfrm>
          <a:prstGeom prst="rect">
            <a:avLst/>
          </a:prstGeom>
          <a:noFill/>
          <a:ln/>
        </p:spPr>
        <p:txBody>
          <a:bodyPr wrap="square" lIns="0" tIns="0" rIns="0" bIns="0" rtlCol="0" anchor="ctr"/>
          <a:lstStyle/>
          <a:p>
            <a:pPr indent="0" marL="0">
              <a:buNone/>
            </a:pPr>
            <a:r>
              <a:rPr lang="en-US" sz="1050" dirty="0">
                <a:solidFill>
                  <a:srgbClr val="4A4A4A"/>
                </a:solidFill>
              </a:rPr>
              <a:t>Project Report Submission</a:t>
            </a:r>
            <a:endParaRPr lang="en-US" sz="1050" dirty="0"/>
          </a:p>
        </p:txBody>
      </p:sp>
      <p:sp>
        <p:nvSpPr>
          <p:cNvPr id="63" name="Shape 61"/>
          <p:cNvSpPr/>
          <p:nvPr/>
        </p:nvSpPr>
        <p:spPr>
          <a:xfrm>
            <a:off x="3108960" y="3858768"/>
            <a:ext cx="1188720" cy="594360"/>
          </a:xfrm>
          <a:prstGeom prst="rect">
            <a:avLst/>
          </a:prstGeom>
          <a:solidFill>
            <a:srgbClr val="D6E4F0"/>
          </a:solidFill>
          <a:ln w="12700">
            <a:solidFill>
              <a:srgbClr val="5B9BD5"/>
            </a:solidFill>
            <a:prstDash val="solid"/>
          </a:ln>
        </p:spPr>
      </p:sp>
      <p:sp>
        <p:nvSpPr>
          <p:cNvPr id="64" name="Shape 62"/>
          <p:cNvSpPr/>
          <p:nvPr/>
        </p:nvSpPr>
        <p:spPr>
          <a:xfrm>
            <a:off x="4315968" y="3858768"/>
            <a:ext cx="1188720" cy="594360"/>
          </a:xfrm>
          <a:prstGeom prst="rect">
            <a:avLst/>
          </a:prstGeom>
          <a:solidFill>
            <a:srgbClr val="D6E4F0"/>
          </a:solidFill>
          <a:ln w="12700">
            <a:solidFill>
              <a:srgbClr val="5B9BD5"/>
            </a:solidFill>
            <a:prstDash val="solid"/>
          </a:ln>
        </p:spPr>
      </p:sp>
      <p:sp>
        <p:nvSpPr>
          <p:cNvPr id="65" name="Shape 63"/>
          <p:cNvSpPr/>
          <p:nvPr/>
        </p:nvSpPr>
        <p:spPr>
          <a:xfrm>
            <a:off x="5522976" y="3858768"/>
            <a:ext cx="1188720" cy="594360"/>
          </a:xfrm>
          <a:prstGeom prst="rect">
            <a:avLst/>
          </a:prstGeom>
          <a:solidFill>
            <a:srgbClr val="D6E4F0"/>
          </a:solidFill>
          <a:ln w="12700">
            <a:solidFill>
              <a:srgbClr val="5B9BD5"/>
            </a:solidFill>
            <a:prstDash val="solid"/>
          </a:ln>
        </p:spPr>
      </p:sp>
      <p:sp>
        <p:nvSpPr>
          <p:cNvPr id="66" name="Shape 64"/>
          <p:cNvSpPr/>
          <p:nvPr/>
        </p:nvSpPr>
        <p:spPr>
          <a:xfrm>
            <a:off x="6729984" y="3858768"/>
            <a:ext cx="1188720" cy="594360"/>
          </a:xfrm>
          <a:prstGeom prst="rect">
            <a:avLst/>
          </a:prstGeom>
          <a:solidFill>
            <a:srgbClr val="D6E4F0"/>
          </a:solidFill>
          <a:ln w="12700">
            <a:solidFill>
              <a:srgbClr val="5B9BD5"/>
            </a:solidFill>
            <a:prstDash val="solid"/>
          </a:ln>
        </p:spPr>
      </p:sp>
      <p:sp>
        <p:nvSpPr>
          <p:cNvPr id="67" name="Shape 65"/>
          <p:cNvSpPr/>
          <p:nvPr/>
        </p:nvSpPr>
        <p:spPr>
          <a:xfrm>
            <a:off x="6839712" y="3986784"/>
            <a:ext cx="950976" cy="329184"/>
          </a:xfrm>
          <a:prstGeom prst="rect">
            <a:avLst/>
          </a:prstGeom>
          <a:solidFill>
            <a:srgbClr val="1A3A5C"/>
          </a:solidFill>
          <a:ln w="12700">
            <a:solidFill>
              <a:srgbClr val="1A3A5C"/>
            </a:solidFill>
            <a:prstDash val="solid"/>
          </a:ln>
        </p:spPr>
      </p:sp>
      <p:sp>
        <p:nvSpPr>
          <p:cNvPr id="68" name="Text 66"/>
          <p:cNvSpPr/>
          <p:nvPr/>
        </p:nvSpPr>
        <p:spPr>
          <a:xfrm>
            <a:off x="6839712" y="3986784"/>
            <a:ext cx="950976" cy="32918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69" name="Shape 67"/>
          <p:cNvSpPr/>
          <p:nvPr/>
        </p:nvSpPr>
        <p:spPr>
          <a:xfrm>
            <a:off x="7936992" y="3858768"/>
            <a:ext cx="1188720" cy="594360"/>
          </a:xfrm>
          <a:prstGeom prst="rect">
            <a:avLst/>
          </a:prstGeom>
          <a:solidFill>
            <a:srgbClr val="D6E4F0"/>
          </a:solidFill>
          <a:ln w="12700">
            <a:solidFill>
              <a:srgbClr val="5B9BD5"/>
            </a:solidFill>
            <a:prstDash val="solid"/>
          </a:ln>
        </p:spPr>
      </p:sp>
      <p:sp>
        <p:nvSpPr>
          <p:cNvPr id="70" name="Shape 68"/>
          <p:cNvSpPr/>
          <p:nvPr/>
        </p:nvSpPr>
        <p:spPr>
          <a:xfrm>
            <a:off x="8046720" y="3986784"/>
            <a:ext cx="950976" cy="329184"/>
          </a:xfrm>
          <a:prstGeom prst="rect">
            <a:avLst/>
          </a:prstGeom>
          <a:solidFill>
            <a:srgbClr val="1A3A5C"/>
          </a:solidFill>
          <a:ln w="12700">
            <a:solidFill>
              <a:srgbClr val="1A3A5C"/>
            </a:solidFill>
            <a:prstDash val="solid"/>
          </a:ln>
        </p:spPr>
      </p:sp>
      <p:sp>
        <p:nvSpPr>
          <p:cNvPr id="71" name="Text 69"/>
          <p:cNvSpPr/>
          <p:nvPr/>
        </p:nvSpPr>
        <p:spPr>
          <a:xfrm>
            <a:off x="8046720" y="3986784"/>
            <a:ext cx="950976" cy="32918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5C"/>
          </a:solidFill>
          <a:ln w="12700">
            <a:solidFill>
              <a:srgbClr val="1A3A5C"/>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200" b="1" dirty="0">
                <a:solidFill>
                  <a:srgbClr val="FFFFFF"/>
                </a:solidFill>
              </a:rPr>
              <a:t>V.  References</a:t>
            </a:r>
            <a:endParaRPr lang="en-US" sz="2200" dirty="0"/>
          </a:p>
        </p:txBody>
      </p:sp>
      <p:sp>
        <p:nvSpPr>
          <p:cNvPr id="4" name="Shape 2"/>
          <p:cNvSpPr/>
          <p:nvPr/>
        </p:nvSpPr>
        <p:spPr>
          <a:xfrm>
            <a:off x="0" y="658368"/>
            <a:ext cx="9144000" cy="54864"/>
          </a:xfrm>
          <a:prstGeom prst="rect">
            <a:avLst/>
          </a:prstGeom>
          <a:solidFill>
            <a:srgbClr val="C8A951"/>
          </a:solidFill>
          <a:ln w="12700">
            <a:solidFill>
              <a:srgbClr val="C8A951"/>
            </a:solidFill>
            <a:prstDash val="solid"/>
          </a:ln>
        </p:spPr>
      </p:sp>
      <p:sp>
        <p:nvSpPr>
          <p:cNvPr id="5" name="Shape 3"/>
          <p:cNvSpPr/>
          <p:nvPr/>
        </p:nvSpPr>
        <p:spPr>
          <a:xfrm>
            <a:off x="0" y="4901184"/>
            <a:ext cx="9144000" cy="242316"/>
          </a:xfrm>
          <a:prstGeom prst="rect">
            <a:avLst/>
          </a:prstGeom>
          <a:solidFill>
            <a:srgbClr val="1A3A5C"/>
          </a:solidFill>
          <a:ln w="12700">
            <a:solidFill>
              <a:srgbClr val="1A3A5C"/>
            </a:solidFill>
            <a:prstDash val="solid"/>
          </a:ln>
        </p:spPr>
      </p:sp>
      <p:sp>
        <p:nvSpPr>
          <p:cNvPr id="6" name="Text 4"/>
          <p:cNvSpPr/>
          <p:nvPr/>
        </p:nvSpPr>
        <p:spPr>
          <a:xfrm>
            <a:off x="274320" y="4901184"/>
            <a:ext cx="8595360" cy="242316"/>
          </a:xfrm>
          <a:prstGeom prst="rect">
            <a:avLst/>
          </a:prstGeom>
          <a:noFill/>
          <a:ln/>
        </p:spPr>
        <p:txBody>
          <a:bodyPr wrap="square" lIns="0" tIns="0" rIns="0" bIns="0" rtlCol="0" anchor="ctr"/>
          <a:lstStyle/>
          <a:p>
            <a:pPr algn="ctr" indent="0" marL="0">
              <a:buNone/>
            </a:pPr>
            <a:r>
              <a:rPr lang="en-US" sz="850" dirty="0">
                <a:solidFill>
                  <a:srgbClr val="D6E4F0"/>
                </a:solidFill>
              </a:rPr>
              <a:t>Department of Computer Technology  |  YCCE, Nagpur  |  Session 2025–26</a:t>
            </a:r>
            <a:endParaRPr lang="en-US" sz="850" dirty="0"/>
          </a:p>
        </p:txBody>
      </p:sp>
      <p:sp>
        <p:nvSpPr>
          <p:cNvPr id="7" name="Shape 5"/>
          <p:cNvSpPr/>
          <p:nvPr/>
        </p:nvSpPr>
        <p:spPr>
          <a:xfrm>
            <a:off x="365760" y="822960"/>
            <a:ext cx="2011680" cy="292608"/>
          </a:xfrm>
          <a:prstGeom prst="rect">
            <a:avLst/>
          </a:prstGeom>
          <a:solidFill>
            <a:srgbClr val="1A3A5C"/>
          </a:solidFill>
          <a:ln w="12700">
            <a:solidFill>
              <a:srgbClr val="1A3A5C"/>
            </a:solidFill>
            <a:prstDash val="solid"/>
          </a:ln>
        </p:spPr>
      </p:sp>
      <p:sp>
        <p:nvSpPr>
          <p:cNvPr id="8" name="Text 6"/>
          <p:cNvSpPr/>
          <p:nvPr/>
        </p:nvSpPr>
        <p:spPr>
          <a:xfrm>
            <a:off x="365760" y="82296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rPr>
              <a:t>Website</a:t>
            </a:r>
            <a:endParaRPr lang="en-US" sz="1000" dirty="0"/>
          </a:p>
        </p:txBody>
      </p:sp>
      <p:sp>
        <p:nvSpPr>
          <p:cNvPr id="9" name="Text 7"/>
          <p:cNvSpPr/>
          <p:nvPr/>
        </p:nvSpPr>
        <p:spPr>
          <a:xfrm>
            <a:off x="502920" y="1152144"/>
            <a:ext cx="8321040" cy="329184"/>
          </a:xfrm>
          <a:prstGeom prst="rect">
            <a:avLst/>
          </a:prstGeom>
          <a:noFill/>
          <a:ln/>
        </p:spPr>
        <p:txBody>
          <a:bodyPr wrap="square" lIns="0" tIns="0" rIns="0" bIns="0" rtlCol="0" anchor="ctr"/>
          <a:lstStyle/>
          <a:p>
            <a:pPr indent="0" marL="0">
              <a:buNone/>
            </a:pPr>
            <a:r>
              <a:rPr lang="en-US" sz="1050" dirty="0">
                <a:solidFill>
                  <a:srgbClr val="4A4A4A"/>
                </a:solidFill>
              </a:rPr>
              <a:t>[1] Selenium WebDriver Official Documentation: https://www.selenium.dev/documentation/</a:t>
            </a:r>
            <a:endParaRPr lang="en-US" sz="1050" dirty="0"/>
          </a:p>
        </p:txBody>
      </p:sp>
      <p:sp>
        <p:nvSpPr>
          <p:cNvPr id="10" name="Text 8"/>
          <p:cNvSpPr/>
          <p:nvPr/>
        </p:nvSpPr>
        <p:spPr>
          <a:xfrm>
            <a:off x="502920" y="1490472"/>
            <a:ext cx="8321040" cy="329184"/>
          </a:xfrm>
          <a:prstGeom prst="rect">
            <a:avLst/>
          </a:prstGeom>
          <a:noFill/>
          <a:ln/>
        </p:spPr>
        <p:txBody>
          <a:bodyPr wrap="square" lIns="0" tIns="0" rIns="0" bIns="0" rtlCol="0" anchor="ctr"/>
          <a:lstStyle/>
          <a:p>
            <a:pPr indent="0" marL="0">
              <a:buNone/>
            </a:pPr>
            <a:r>
              <a:rPr lang="en-US" sz="1050" dirty="0">
                <a:solidFill>
                  <a:srgbClr val="4A4A4A"/>
                </a:solidFill>
              </a:rPr>
              <a:t>[2] Cognizant GenC Program Overview: https://www.cognizant.com/in/en/careers/campus</a:t>
            </a:r>
            <a:endParaRPr lang="en-US" sz="1050" dirty="0"/>
          </a:p>
        </p:txBody>
      </p:sp>
      <p:sp>
        <p:nvSpPr>
          <p:cNvPr id="11" name="Shape 9"/>
          <p:cNvSpPr/>
          <p:nvPr/>
        </p:nvSpPr>
        <p:spPr>
          <a:xfrm>
            <a:off x="365760" y="1956816"/>
            <a:ext cx="2011680" cy="292608"/>
          </a:xfrm>
          <a:prstGeom prst="rect">
            <a:avLst/>
          </a:prstGeom>
          <a:solidFill>
            <a:srgbClr val="1A3A5C"/>
          </a:solidFill>
          <a:ln w="12700">
            <a:solidFill>
              <a:srgbClr val="1A3A5C"/>
            </a:solidFill>
            <a:prstDash val="solid"/>
          </a:ln>
        </p:spPr>
      </p:sp>
      <p:sp>
        <p:nvSpPr>
          <p:cNvPr id="12" name="Text 10"/>
          <p:cNvSpPr/>
          <p:nvPr/>
        </p:nvSpPr>
        <p:spPr>
          <a:xfrm>
            <a:off x="365760" y="1956816"/>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rPr>
              <a:t>Journal / Conference</a:t>
            </a:r>
            <a:endParaRPr lang="en-US" sz="1000" dirty="0"/>
          </a:p>
        </p:txBody>
      </p:sp>
      <p:sp>
        <p:nvSpPr>
          <p:cNvPr id="13" name="Text 11"/>
          <p:cNvSpPr/>
          <p:nvPr/>
        </p:nvSpPr>
        <p:spPr>
          <a:xfrm>
            <a:off x="502920" y="2286000"/>
            <a:ext cx="8321040" cy="329184"/>
          </a:xfrm>
          <a:prstGeom prst="rect">
            <a:avLst/>
          </a:prstGeom>
          <a:noFill/>
          <a:ln/>
        </p:spPr>
        <p:txBody>
          <a:bodyPr wrap="square" lIns="0" tIns="0" rIns="0" bIns="0" rtlCol="0" anchor="ctr"/>
          <a:lstStyle/>
          <a:p>
            <a:pPr indent="0" marL="0">
              <a:buNone/>
            </a:pPr>
            <a:r>
              <a:rPr lang="en-US" sz="1050" dirty="0">
                <a:solidFill>
                  <a:srgbClr val="4A4A4A"/>
                </a:solidFill>
              </a:rPr>
              <a:t>[3] M. Cohn, "Succeeding with Agile: Software Development Using Scrum," Addison-Wesley Professional, 2009.</a:t>
            </a:r>
            <a:endParaRPr lang="en-US" sz="1050" dirty="0"/>
          </a:p>
        </p:txBody>
      </p:sp>
      <p:sp>
        <p:nvSpPr>
          <p:cNvPr id="14" name="Text 12"/>
          <p:cNvSpPr/>
          <p:nvPr/>
        </p:nvSpPr>
        <p:spPr>
          <a:xfrm>
            <a:off x="502920" y="2624328"/>
            <a:ext cx="8321040" cy="329184"/>
          </a:xfrm>
          <a:prstGeom prst="rect">
            <a:avLst/>
          </a:prstGeom>
          <a:noFill/>
          <a:ln/>
        </p:spPr>
        <p:txBody>
          <a:bodyPr wrap="square" lIns="0" tIns="0" rIns="0" bIns="0" rtlCol="0" anchor="ctr"/>
          <a:lstStyle/>
          <a:p>
            <a:pPr indent="0" marL="0">
              <a:buNone/>
            </a:pPr>
            <a:r>
              <a:rPr lang="en-US" sz="1050" dirty="0">
                <a:solidFill>
                  <a:srgbClr val="4A4A4A"/>
                </a:solidFill>
              </a:rPr>
              <a:t>[4] R. Patton, "Software Testing," Sams Publishing, 2nd edition, 2005.</a:t>
            </a:r>
            <a:endParaRPr lang="en-US" sz="1050" dirty="0"/>
          </a:p>
        </p:txBody>
      </p:sp>
      <p:sp>
        <p:nvSpPr>
          <p:cNvPr id="15" name="Shape 13"/>
          <p:cNvSpPr/>
          <p:nvPr/>
        </p:nvSpPr>
        <p:spPr>
          <a:xfrm>
            <a:off x="365760" y="3090672"/>
            <a:ext cx="2011680" cy="292608"/>
          </a:xfrm>
          <a:prstGeom prst="rect">
            <a:avLst/>
          </a:prstGeom>
          <a:solidFill>
            <a:srgbClr val="1A3A5C"/>
          </a:solidFill>
          <a:ln w="12700">
            <a:solidFill>
              <a:srgbClr val="1A3A5C"/>
            </a:solidFill>
            <a:prstDash val="solid"/>
          </a:ln>
        </p:spPr>
      </p:sp>
      <p:sp>
        <p:nvSpPr>
          <p:cNvPr id="16" name="Text 14"/>
          <p:cNvSpPr/>
          <p:nvPr/>
        </p:nvSpPr>
        <p:spPr>
          <a:xfrm>
            <a:off x="365760" y="3090672"/>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rPr>
              <a:t>Tools &amp; Platforms</a:t>
            </a:r>
            <a:endParaRPr lang="en-US" sz="1000" dirty="0"/>
          </a:p>
        </p:txBody>
      </p:sp>
      <p:sp>
        <p:nvSpPr>
          <p:cNvPr id="17" name="Text 15"/>
          <p:cNvSpPr/>
          <p:nvPr/>
        </p:nvSpPr>
        <p:spPr>
          <a:xfrm>
            <a:off x="502920" y="3419856"/>
            <a:ext cx="8321040" cy="329184"/>
          </a:xfrm>
          <a:prstGeom prst="rect">
            <a:avLst/>
          </a:prstGeom>
          <a:noFill/>
          <a:ln/>
        </p:spPr>
        <p:txBody>
          <a:bodyPr wrap="square" lIns="0" tIns="0" rIns="0" bIns="0" rtlCol="0" anchor="ctr"/>
          <a:lstStyle/>
          <a:p>
            <a:pPr indent="0" marL="0">
              <a:buNone/>
            </a:pPr>
            <a:r>
              <a:rPr lang="en-US" sz="1050" dirty="0">
                <a:solidFill>
                  <a:srgbClr val="4A4A4A"/>
                </a:solidFill>
              </a:rPr>
              <a:t>[5] TestNG Framework: https://testng.org/doc/</a:t>
            </a:r>
            <a:endParaRPr lang="en-US" sz="1050" dirty="0"/>
          </a:p>
        </p:txBody>
      </p:sp>
      <p:sp>
        <p:nvSpPr>
          <p:cNvPr id="18" name="Text 16"/>
          <p:cNvSpPr/>
          <p:nvPr/>
        </p:nvSpPr>
        <p:spPr>
          <a:xfrm>
            <a:off x="502920" y="3758184"/>
            <a:ext cx="8321040" cy="329184"/>
          </a:xfrm>
          <a:prstGeom prst="rect">
            <a:avLst/>
          </a:prstGeom>
          <a:noFill/>
          <a:ln/>
        </p:spPr>
        <p:txBody>
          <a:bodyPr wrap="square" lIns="0" tIns="0" rIns="0" bIns="0" rtlCol="0" anchor="ctr"/>
          <a:lstStyle/>
          <a:p>
            <a:pPr indent="0" marL="0">
              <a:buNone/>
            </a:pPr>
            <a:r>
              <a:rPr lang="en-US" sz="1050" dirty="0">
                <a:solidFill>
                  <a:srgbClr val="4A4A4A"/>
                </a:solidFill>
              </a:rPr>
              <a:t>[6] ExtentReports: https://www.extentreports.com/</a:t>
            </a:r>
            <a:endParaRPr lang="en-US" sz="1050" dirty="0"/>
          </a:p>
        </p:txBody>
      </p:sp>
      <p:sp>
        <p:nvSpPr>
          <p:cNvPr id="19" name="Text 17"/>
          <p:cNvSpPr/>
          <p:nvPr/>
        </p:nvSpPr>
        <p:spPr>
          <a:xfrm>
            <a:off x="502920" y="4096512"/>
            <a:ext cx="8321040" cy="329184"/>
          </a:xfrm>
          <a:prstGeom prst="rect">
            <a:avLst/>
          </a:prstGeom>
          <a:noFill/>
          <a:ln/>
        </p:spPr>
        <p:txBody>
          <a:bodyPr wrap="square" lIns="0" tIns="0" rIns="0" bIns="0" rtlCol="0" anchor="ctr"/>
          <a:lstStyle/>
          <a:p>
            <a:pPr indent="0" marL="0">
              <a:buNone/>
            </a:pPr>
            <a:r>
              <a:rPr lang="en-US" sz="1050" dirty="0">
                <a:solidFill>
                  <a:srgbClr val="4A4A4A"/>
                </a:solidFill>
              </a:rPr>
              <a:t>[7] Coursera Platform (Target Application): https://www.coursera.org/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2926080" y="548640"/>
            <a:ext cx="3291840" cy="3291840"/>
          </a:xfrm>
          <a:prstGeom prst="ellipse">
            <a:avLst/>
          </a:prstGeom>
          <a:solidFill>
            <a:srgbClr val="2E6DA4">
              <a:alpha val="40000"/>
            </a:srgbClr>
          </a:solidFill>
          <a:ln w="12700">
            <a:solidFill>
              <a:srgbClr val="2E6DA4">
                <a:alpha val="40000"/>
              </a:srgbClr>
            </a:solidFill>
            <a:prstDash val="solid"/>
          </a:ln>
        </p:spPr>
      </p:sp>
      <p:sp>
        <p:nvSpPr>
          <p:cNvPr id="3" name="Shape 1"/>
          <p:cNvSpPr/>
          <p:nvPr/>
        </p:nvSpPr>
        <p:spPr>
          <a:xfrm>
            <a:off x="3474720" y="1005840"/>
            <a:ext cx="2194560" cy="2194560"/>
          </a:xfrm>
          <a:prstGeom prst="ellipse">
            <a:avLst/>
          </a:prstGeom>
          <a:solidFill>
            <a:srgbClr val="5B9BD5">
              <a:alpha val="45000"/>
            </a:srgbClr>
          </a:solidFill>
          <a:ln w="12700">
            <a:solidFill>
              <a:srgbClr val="5B9BD5">
                <a:alpha val="45000"/>
              </a:srgbClr>
            </a:solidFill>
            <a:prstDash val="solid"/>
          </a:ln>
        </p:spPr>
      </p:sp>
      <p:sp>
        <p:nvSpPr>
          <p:cNvPr id="4" name="Text 2"/>
          <p:cNvSpPr/>
          <p:nvPr/>
        </p:nvSpPr>
        <p:spPr>
          <a:xfrm>
            <a:off x="457200" y="1280160"/>
            <a:ext cx="8229600" cy="1097280"/>
          </a:xfrm>
          <a:prstGeom prst="rect">
            <a:avLst/>
          </a:prstGeom>
          <a:noFill/>
          <a:ln/>
        </p:spPr>
        <p:txBody>
          <a:bodyPr wrap="square" lIns="0" tIns="0" rIns="0" bIns="0" rtlCol="0" anchor="ctr"/>
          <a:lstStyle/>
          <a:p>
            <a:pPr algn="ctr" indent="0" marL="0">
              <a:buNone/>
            </a:pPr>
            <a:r>
              <a:rPr lang="en-US" sz="4800" b="1" dirty="0">
                <a:solidFill>
                  <a:srgbClr val="FFFFFF"/>
                </a:solidFill>
              </a:rPr>
              <a:t>Thank You…….</a:t>
            </a:r>
            <a:endParaRPr lang="en-US" sz="4800" dirty="0"/>
          </a:p>
        </p:txBody>
      </p:sp>
      <p:sp>
        <p:nvSpPr>
          <p:cNvPr id="5" name="Shape 3"/>
          <p:cNvSpPr/>
          <p:nvPr/>
        </p:nvSpPr>
        <p:spPr>
          <a:xfrm>
            <a:off x="2286000" y="2606040"/>
            <a:ext cx="4572000" cy="54864"/>
          </a:xfrm>
          <a:prstGeom prst="rect">
            <a:avLst/>
          </a:prstGeom>
          <a:solidFill>
            <a:srgbClr val="C8A951"/>
          </a:solidFill>
          <a:ln w="12700">
            <a:solidFill>
              <a:srgbClr val="C8A951"/>
            </a:solidFill>
            <a:prstDash val="solid"/>
          </a:ln>
        </p:spPr>
      </p:sp>
      <p:sp>
        <p:nvSpPr>
          <p:cNvPr id="6" name="Text 4"/>
          <p:cNvSpPr/>
          <p:nvPr/>
        </p:nvSpPr>
        <p:spPr>
          <a:xfrm>
            <a:off x="457200" y="2788920"/>
            <a:ext cx="8229600" cy="347472"/>
          </a:xfrm>
          <a:prstGeom prst="rect">
            <a:avLst/>
          </a:prstGeom>
          <a:noFill/>
          <a:ln/>
        </p:spPr>
        <p:txBody>
          <a:bodyPr wrap="square" lIns="0" tIns="0" rIns="0" bIns="0" rtlCol="0" anchor="ctr"/>
          <a:lstStyle/>
          <a:p>
            <a:pPr algn="ctr" indent="0" marL="0">
              <a:buNone/>
            </a:pPr>
            <a:r>
              <a:rPr lang="en-US" sz="1400" dirty="0">
                <a:solidFill>
                  <a:srgbClr val="D6E4F0"/>
                </a:solidFill>
              </a:rPr>
              <a:t>Payal SamarKumar Sahu  |  Roll No: 15</a:t>
            </a:r>
            <a:endParaRPr lang="en-US" sz="1400" dirty="0"/>
          </a:p>
        </p:txBody>
      </p:sp>
      <p:sp>
        <p:nvSpPr>
          <p:cNvPr id="7" name="Text 5"/>
          <p:cNvSpPr/>
          <p:nvPr/>
        </p:nvSpPr>
        <p:spPr>
          <a:xfrm>
            <a:off x="457200" y="3127248"/>
            <a:ext cx="8229600" cy="320040"/>
          </a:xfrm>
          <a:prstGeom prst="rect">
            <a:avLst/>
          </a:prstGeom>
          <a:noFill/>
          <a:ln/>
        </p:spPr>
        <p:txBody>
          <a:bodyPr wrap="square" lIns="0" tIns="0" rIns="0" bIns="0" rtlCol="0" anchor="ctr"/>
          <a:lstStyle/>
          <a:p>
            <a:pPr algn="ctr" indent="0" marL="0">
              <a:buNone/>
            </a:pPr>
            <a:r>
              <a:rPr lang="en-US" sz="1200" dirty="0">
                <a:solidFill>
                  <a:srgbClr val="7F7F7F"/>
                </a:solidFill>
              </a:rPr>
              <a:t>B.Tech CSE (IoT)  |  GenC PAT – Cognizant Technology Solutions</a:t>
            </a:r>
            <a:endParaRPr lang="en-US" sz="1200" dirty="0"/>
          </a:p>
        </p:txBody>
      </p:sp>
      <p:sp>
        <p:nvSpPr>
          <p:cNvPr id="8" name="Text 6"/>
          <p:cNvSpPr/>
          <p:nvPr/>
        </p:nvSpPr>
        <p:spPr>
          <a:xfrm>
            <a:off x="457200" y="3456432"/>
            <a:ext cx="8229600" cy="292608"/>
          </a:xfrm>
          <a:prstGeom prst="rect">
            <a:avLst/>
          </a:prstGeom>
          <a:noFill/>
          <a:ln/>
        </p:spPr>
        <p:txBody>
          <a:bodyPr wrap="square" lIns="0" tIns="0" rIns="0" bIns="0" rtlCol="0" anchor="ctr"/>
          <a:lstStyle/>
          <a:p>
            <a:pPr algn="ctr" indent="0" marL="0">
              <a:buNone/>
            </a:pPr>
            <a:r>
              <a:rPr lang="en-US" sz="1100" i="1" dirty="0">
                <a:solidFill>
                  <a:srgbClr val="7F7F7F"/>
                </a:solidFill>
              </a:rPr>
              <a:t>Yeshwantrao Chavan College of Engineering, Nagpur  |  2025 – 26</a:t>
            </a:r>
            <a:endParaRPr lang="en-US" sz="1100" dirty="0"/>
          </a:p>
        </p:txBody>
      </p:sp>
      <p:sp>
        <p:nvSpPr>
          <p:cNvPr id="9" name="Text 7"/>
          <p:cNvSpPr/>
          <p:nvPr/>
        </p:nvSpPr>
        <p:spPr>
          <a:xfrm>
            <a:off x="457200" y="3913632"/>
            <a:ext cx="8229600" cy="292608"/>
          </a:xfrm>
          <a:prstGeom prst="rect">
            <a:avLst/>
          </a:prstGeom>
          <a:noFill/>
          <a:ln/>
        </p:spPr>
        <p:txBody>
          <a:bodyPr wrap="square" lIns="0" tIns="0" rIns="0" bIns="0" rtlCol="0" anchor="ctr"/>
          <a:lstStyle/>
          <a:p>
            <a:pPr algn="ctr" indent="0" marL="0">
              <a:buNone/>
            </a:pPr>
            <a:r>
              <a:rPr lang="en-US" sz="1100" dirty="0">
                <a:solidFill>
                  <a:srgbClr val="D6E4F0"/>
                </a:solidFill>
              </a:rPr>
              <a:t>Industry Guide: Ashly M. Benny  |  College Guide: Dr. Piyush Ingole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Report – Payal SamarKumar Sahu</dc:title>
  <dc:subject>PptxGenJS Presentation</dc:subject>
  <dc:creator>PptxGenJS</dc:creator>
  <cp:lastModifiedBy>PptxGenJS</cp:lastModifiedBy>
  <cp:revision>1</cp:revision>
  <dcterms:created xsi:type="dcterms:W3CDTF">2026-05-11T06:17:41Z</dcterms:created>
  <dcterms:modified xsi:type="dcterms:W3CDTF">2026-05-11T06:17:41Z</dcterms:modified>
</cp:coreProperties>
</file>