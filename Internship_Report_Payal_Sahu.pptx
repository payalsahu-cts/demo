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371600" cy="13716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0CAF9"/>
                </a:solidFill>
              </a:rPr>
              <a:t>Yeshwantrao Chavan College of Engineering, Nagpur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</a:rPr>
              <a:t>INTERNSHIP REPORT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Automation of Coursera Web Application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To Identify Courses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5029200" cy="36576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743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0CAF9"/>
                </a:solidFill>
              </a:rPr>
              <a:t>Submitted by: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743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Payal SamarKumar Sahu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081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0CAF9"/>
                </a:solidFill>
              </a:rPr>
              <a:t>Roll No: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30815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419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0CAF9"/>
                </a:solidFill>
              </a:rPr>
              <a:t>Program: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3419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B.Tech CSE (IoT)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758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0CAF9"/>
                </a:solidFill>
              </a:rPr>
              <a:t>Session: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37581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2025 – 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0CAF9"/>
                </a:solidFill>
              </a:rPr>
              <a:t>Faculty Supervisor: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Dr. Piyush Ingole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498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0CAF9"/>
                </a:solidFill>
              </a:rPr>
              <a:t>Industry Supervisor: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44988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Ashly M. Benny, Cognizant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GenC PAT | Cognizant Technology Solutions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4630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TABLE OF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2834640"/>
            <a:ext cx="1828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2971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CAF9"/>
                </a:solidFill>
              </a:rPr>
              <a:t>Internship Report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CAF9"/>
                </a:solidFill>
              </a:rPr>
              <a:t>2025 – 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08960" y="411480"/>
            <a:ext cx="4572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411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42976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Introduction &amp; Background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0" y="978408"/>
            <a:ext cx="457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9784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03320" y="9966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About the Organization (Cognizant / GenC)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1545336"/>
            <a:ext cx="4572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5453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156362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Training Component &amp; Tools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08960" y="2112264"/>
            <a:ext cx="457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21122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03320" y="21305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Project Overview &amp; Problem Statement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08960" y="2679192"/>
            <a:ext cx="4572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6791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03320" y="26974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Automation Tasks (Task 1, 2 &amp; 3)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08960" y="3246120"/>
            <a:ext cx="457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3246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326440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Weekly Work Log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08960" y="3813048"/>
            <a:ext cx="4572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8130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03320" y="383133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Challenges &amp; Solutions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08960" y="4379976"/>
            <a:ext cx="457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43799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03320" y="439826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|  Introduction &amp; Background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Background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</a:rPr>
              <a:t>The rapid growth of digital technology has transformed education globally.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</a:rPr>
              <a:t>Online platforms like Coursera offer thousands of courses across diverse domains.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</a:rPr>
              <a:t>Quality Assurance (QA) is vital — ensuring web applications perform reliably.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</a:rPr>
              <a:t>Manual testing is time-consuming and error-prone; automation addresses this.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02336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Internship Purpose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57276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5453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Gain real-world automation testing experience at Cognizant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0" y="209397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20665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Apply B.Tech knowledge in a professional environment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261518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587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Design &amp; implement automation scripts for Coursera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0" y="313639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108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Handle dynamic elements, forms &amp; error capture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365760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630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Develop proficiency in industry-standard tools &amp; frameworks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About Cognizant &amp; GenC Program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88920" cy="374904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889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887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Cognizant Technology Solutions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" y="1783080"/>
            <a:ext cx="25786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One of the world's leading IT professional services companies. HQ: Teaneck, NJ, USA. Listed on NASDAQ (CTSH). Workforce of 300,000+ professionals globally. Serves banking, healthcare, retail &amp; tech sectors.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1051560"/>
            <a:ext cx="2788920" cy="374904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18688" y="1051560"/>
            <a:ext cx="2788920" cy="7315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8416" y="11887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Quality Engineering &amp; Assurance (QEA)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28416" y="1783080"/>
            <a:ext cx="25786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Dedicated division for quality, reliability &amp; performance of enterprise applications. Focus on intelligent automation, AI-driven QA, modernization assurance, and experience assurance.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1051560"/>
            <a:ext cx="2788920" cy="374904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3056" y="1051560"/>
            <a:ext cx="27889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11887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Generation Cognizant (GenC) – PAT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72784" y="1783080"/>
            <a:ext cx="25786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Structured 65-day learning initiative for fresh talent. Learner Autonomy model — 'learning by doing.' Flipped Classroom: self-paced Udemy + Tekstac, followed by SME-guided practice sessions.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Training Component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1 – Core Java with SQL  (Day 1–21)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</a:rPr>
              <a:t>Core Java Fundamentals: data types, operators, control flow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</a:rPr>
              <a:t>OOP: Encapsulation, Inheritance, Polymorphism, Abstraction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</a:rPr>
              <a:t>Collections: ArrayList, LinkedList, HashMap, HashSet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</a:rPr>
              <a:t>Exception Handling, File Handling, Java 8 (Lambda, Stream)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</a:rPr>
              <a:t>SQL: DDL, DML, Joins, Subqueries, Stored Procedures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</a:rPr>
              <a:t>JDBC: Java Database Connectivity, CRUD operations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206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2062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0058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Stage 2 – Selenium Automation  (Day 22–65)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73168" y="1463040"/>
            <a:ext cx="3977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</a:rPr>
              <a:t>Agile/Scrum, STLC, Functional Testing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</a:rPr>
              <a:t>Selenium WebDriver: locators, Actions, JS Executor, Waits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</a:rPr>
              <a:t>Page Object Model (POM), Apache POI (data-driven)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</a:rPr>
              <a:t>TestNG, BDD Cucumber (Gherkin), ExtentReports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</a:rPr>
              <a:t>DevOps: Git, GitHub, Maven, Jenkins, Selenium Grid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</a:rPr>
              <a:t>API Automation: Postman &amp; REST Assured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</a:rPr>
              <a:t>GenAI Fundamentals, GitHub Copilot, Prompt Engineering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|  Project Overview &amp; 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Automation of Coursera Web Application to Identify Courses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0CAF9"/>
                </a:solidFill>
              </a:rPr>
              <a:t>Built a comprehensive Selenium-based automation framework targeting Coursera (coursera.org) — automating three distinct user workflows covering search, data extraction, dynamic dropdown handling, multi-window navigation, form interaction, and validation error capture.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Key Tools &amp; Technologies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20116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6974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Java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3017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</a:rPr>
              <a:t>Primary Language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42032" y="2651760"/>
            <a:ext cx="20116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26974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Selenium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15184" y="3017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</a:rPr>
              <a:t>Browser Automation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18304" y="2651760"/>
            <a:ext cx="20116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26974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BDD Cucumber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91456" y="3017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</a:rPr>
              <a:t>Gherkin Test Design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94576" y="2651760"/>
            <a:ext cx="20116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26974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67728" y="3017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</a:rPr>
              <a:t>Test Execution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20116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5661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ExtentReports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" y="3886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</a:rPr>
              <a:t>HTML Reporting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42032" y="3520440"/>
            <a:ext cx="20116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15184" y="35661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+ Maven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15184" y="3886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</a:rPr>
              <a:t>VCS &amp; Build Tool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18304" y="3520440"/>
            <a:ext cx="20116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5661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JIRA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91456" y="3886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</a:rPr>
              <a:t>Defect Tracking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94576" y="3520440"/>
            <a:ext cx="20116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67728" y="35661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IntelliJ IDE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67728" y="3886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</a:rPr>
              <a:t>Development Env.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|  Automation Tasks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8346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83464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02412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Task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" y="129844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Web Development Course Identification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6616" y="1755648"/>
            <a:ext cx="219456" cy="21945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" y="1755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Search 'Web Development' on Coursera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" y="2395728"/>
            <a:ext cx="219456" cy="21945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2395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Apply Beginner level + English language filters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" y="3035808"/>
            <a:ext cx="219456" cy="21945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Extract name, total learning hours &amp; rating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6616" y="3675888"/>
            <a:ext cx="219456" cy="21945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" y="36758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Display data for first 2 courses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2968" y="1005840"/>
            <a:ext cx="28346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1005840"/>
            <a:ext cx="2834640" cy="6400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82696" y="102412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Task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82696" y="129844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Language Learning Data Extraction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00984" y="1755648"/>
            <a:ext cx="219456" cy="21945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00984" y="1755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84448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Navigate to Language Learning category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00984" y="2395728"/>
            <a:ext cx="219456" cy="21945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00984" y="2395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84448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Extract all available languages &amp; proficiency levels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00984" y="3035808"/>
            <a:ext cx="219456" cy="21945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00984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84448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Store in HashMap &lt;Language, &lt;Level, Count&gt;&gt;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00984" y="3675888"/>
            <a:ext cx="219456" cy="21945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00984" y="36758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84448" y="3657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Display total courses per language-level combo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17336" y="1005840"/>
            <a:ext cx="28346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17336" y="1005840"/>
            <a:ext cx="283464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27064" y="102412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Task 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27064" y="129844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Form Validation &amp; Error Capture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45352" y="1755648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5352" y="1755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28816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Navigate to 'For Enterprise' → Courses for Campus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45352" y="2395728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5352" y="2395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28816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Scroll to 'Ready to Transform' contact form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45352" y="3035808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45352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28816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Submit with intentionally invalid email ('testuser@')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45352" y="3675888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45352" y="36758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28816" y="3657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Capture &amp; display the validation error message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|  Weekly Work Log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91440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" y="960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07008" y="960120"/>
            <a:ext cx="594360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960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Tasks / Learning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68896" y="960120"/>
            <a:ext cx="192024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Outcome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325880"/>
            <a:ext cx="8595360" cy="33832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325880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Wk 1–2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34440" y="1325880"/>
            <a:ext cx="5852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Corporate induction, OOP, Java basics, Collections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50608" y="132588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46E7A"/>
                </a:solidFill>
              </a:rPr>
              <a:t>Satisfactory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691640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691640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Wk 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34440" y="1691640"/>
            <a:ext cx="5852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Java 8, SQL (DDL/DML/Joins), Stage 1 Assessment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150608" y="169164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Good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057400"/>
            <a:ext cx="8595360" cy="33832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2057400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Wk 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34440" y="2057400"/>
            <a:ext cx="5852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Agile/Scrum, STLC, Functional Testing, JIRA setup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50608" y="205740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Good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423160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2423160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Wk 5–6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234440" y="2423160"/>
            <a:ext cx="5852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Selenium WebDriver, XPath, CSS, POM, Apache POI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50608" y="242316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</a:rPr>
              <a:t>Excellent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788920"/>
            <a:ext cx="8595360" cy="33832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2788920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Wk 7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34440" y="2788920"/>
            <a:ext cx="5852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TestNG, BDD Cucumber, Interim Project Evaluation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50608" y="278892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</a:rPr>
              <a:t>Excellent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154680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3154680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Wk 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234440" y="3154680"/>
            <a:ext cx="5852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Hackathon – Task 1: Course search &amp; data extraction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50608" y="315468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</a:rPr>
              <a:t>Excellent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520440"/>
            <a:ext cx="8595360" cy="33832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3520440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Wk 9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234440" y="3520440"/>
            <a:ext cx="5852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Hackathon – Task 2 (Language) &amp; Task 3 (Form)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150608" y="352044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</a:rPr>
              <a:t>Excellent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886200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" y="3886200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Wk 10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234440" y="3886200"/>
            <a:ext cx="5852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DevOps: Git, Maven, Jenkins, ExtentReports integration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150608" y="388620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</a:rPr>
              <a:t>Excellent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251960"/>
            <a:ext cx="8595360" cy="33832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4251960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Wk 11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234440" y="4251960"/>
            <a:ext cx="5852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API: Postman, REST Assured, Docker basics, GenAI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150608" y="425196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</a:rPr>
              <a:t>Excellent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4617720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4617720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Wk 12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234440" y="4617720"/>
            <a:ext cx="5852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Final delivery, code review, Final Evaluation – Excellent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150608" y="461772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</a:rPr>
              <a:t>Excellent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 |  Challenges &amp;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24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⚠ Dynamic Lazy Loading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✔ Used JavascriptExecutor for scrolling + Explicit Waits (ExpectedConditions) before data extraction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10512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⚠ Nested Dropdown Extraction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✔ Identified scrollable container div, scrolled incrementally with JS, stored data in HashMap&lt;String, ArrayList&gt;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61518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615184"/>
            <a:ext cx="64008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⚠ Form Below Page Fold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95351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✔ JavascriptExecutor.scrollIntoView() for each form section + WebDriverWait elementToBeClickable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419856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419856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56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⚠ Capturing Validation Error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7581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✔ Relative XPath anchored to email field + Explicit Wait for visibilityOfElementLocated before getText()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224528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224528"/>
            <a:ext cx="64008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61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⚠ Environment Setup (SessionNotCreated)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6285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✔ Used Selenium Manager (bundled in 4.x) for auto ChromeDriver versioning; cleaned Maven POM.xml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 |  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CAF9"/>
                </a:solidFill>
              </a:rPr>
              <a:t>This internship at Cognizant Technology Solutions (GenC QEA program) was a transformative 65-day experience that successfully bridged academic knowledge and real-world industry practice.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783080"/>
            <a:ext cx="416052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874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Technical Skills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Core Java, SQL, Selenium WebDriver, BDD Cucumber, TestNG, ExtentReports, POM, Apache POI, Jenkins, REST Assured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783080"/>
            <a:ext cx="416052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874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Project Delivery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Automated 3 Coursera workflows — search, language extraction &amp; form validation — all evaluated as Excellent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063240"/>
            <a:ext cx="416052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154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DevOps 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474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GitHub version control, Maven build, Jenkins CI/CD pipeline, JIRA sprint &amp; defect management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3063240"/>
            <a:ext cx="416052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154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Professional Growth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474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Structured problem-solving, documentation discipline, SME interactions, code reviews &amp; team collaboration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Payal SamarKumar Sahu  |  Roll No: 15  |  B.Tech CSE (IoT)  |  GenC PAT – Cognizant  |  2025–26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Report – Payal SamarKumar Sahu</dc:title>
  <dc:subject>PptxGenJS Presentation</dc:subject>
  <dc:creator>PptxGenJS</dc:creator>
  <cp:lastModifiedBy>PptxGenJS</cp:lastModifiedBy>
  <cp:revision>1</cp:revision>
  <dcterms:created xsi:type="dcterms:W3CDTF">2026-05-11T06:13:10Z</dcterms:created>
  <dcterms:modified xsi:type="dcterms:W3CDTF">2026-05-11T06:13:10Z</dcterms:modified>
</cp:coreProperties>
</file>